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6"/>
  </p:notesMasterIdLst>
  <p:handoutMasterIdLst>
    <p:handoutMasterId r:id="rId17"/>
  </p:handoutMasterIdLst>
  <p:sldIdLst>
    <p:sldId id="256" r:id="rId5"/>
    <p:sldId id="279" r:id="rId6"/>
    <p:sldId id="257" r:id="rId7"/>
    <p:sldId id="258" r:id="rId8"/>
    <p:sldId id="283" r:id="rId9"/>
    <p:sldId id="281" r:id="rId10"/>
    <p:sldId id="280" r:id="rId11"/>
    <p:sldId id="286" r:id="rId12"/>
    <p:sldId id="282" r:id="rId13"/>
    <p:sldId id="287" r:id="rId14"/>
    <p:sldId id="26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07" autoAdjust="0"/>
    <p:restoredTop sz="90655" autoAdjust="0"/>
  </p:normalViewPr>
  <p:slideViewPr>
    <p:cSldViewPr snapToGrid="0">
      <p:cViewPr varScale="1">
        <p:scale>
          <a:sx n="75" d="100"/>
          <a:sy n="75" d="100"/>
        </p:scale>
        <p:origin x="84" y="402"/>
      </p:cViewPr>
      <p:guideLst/>
    </p:cSldViewPr>
  </p:slideViewPr>
  <p:outlineViewPr>
    <p:cViewPr>
      <p:scale>
        <a:sx n="33" d="100"/>
        <a:sy n="33" d="100"/>
      </p:scale>
      <p:origin x="0" y="-288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03" y="29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rnando Guzman" userId="4826bccfe72a07b9" providerId="LiveId" clId="{B5E09506-9E3A-4958-817D-4B25478BE274}"/>
    <pc:docChg chg="modSld">
      <pc:chgData name="Fernando Guzman" userId="4826bccfe72a07b9" providerId="LiveId" clId="{B5E09506-9E3A-4958-817D-4B25478BE274}" dt="2026-09-18T18:06:07.119" v="14" actId="20577"/>
      <pc:docMkLst>
        <pc:docMk/>
      </pc:docMkLst>
      <pc:sldChg chg="modSp mod">
        <pc:chgData name="Fernando Guzman" userId="4826bccfe72a07b9" providerId="LiveId" clId="{B5E09506-9E3A-4958-817D-4B25478BE274}" dt="2026-09-18T18:06:07.119" v="14" actId="20577"/>
        <pc:sldMkLst>
          <pc:docMk/>
          <pc:sldMk cId="3746221425" sldId="287"/>
        </pc:sldMkLst>
        <pc:graphicFrameChg chg="modGraphic">
          <ac:chgData name="Fernando Guzman" userId="4826bccfe72a07b9" providerId="LiveId" clId="{B5E09506-9E3A-4958-817D-4B25478BE274}" dt="2026-09-18T18:06:07.119" v="14" actId="20577"/>
          <ac:graphicFrameMkLst>
            <pc:docMk/>
            <pc:sldMk cId="3746221425" sldId="287"/>
            <ac:graphicFrameMk id="8" creationId="{6858B5F2-63BA-0FB9-6BD2-E8C38A4A97C9}"/>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9/18/2026</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9/18/2026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1778128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a:t>
            </a:fld>
            <a:endParaRPr lang="en-US" dirty="0"/>
          </a:p>
        </p:txBody>
      </p:sp>
    </p:spTree>
    <p:extLst>
      <p:ext uri="{BB962C8B-B14F-4D97-AF65-F5344CB8AC3E}">
        <p14:creationId xmlns:p14="http://schemas.microsoft.com/office/powerpoint/2010/main" val="20903241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3</a:t>
            </a:fld>
            <a:endParaRPr lang="en-US" dirty="0"/>
          </a:p>
        </p:txBody>
      </p:sp>
    </p:spTree>
    <p:extLst>
      <p:ext uri="{BB962C8B-B14F-4D97-AF65-F5344CB8AC3E}">
        <p14:creationId xmlns:p14="http://schemas.microsoft.com/office/powerpoint/2010/main" val="40404389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4</a:t>
            </a:fld>
            <a:endParaRPr lang="en-US" dirty="0"/>
          </a:p>
        </p:txBody>
      </p:sp>
    </p:spTree>
    <p:extLst>
      <p:ext uri="{BB962C8B-B14F-4D97-AF65-F5344CB8AC3E}">
        <p14:creationId xmlns:p14="http://schemas.microsoft.com/office/powerpoint/2010/main" val="28439544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5</a:t>
            </a:fld>
            <a:endParaRPr lang="en-US" dirty="0"/>
          </a:p>
        </p:txBody>
      </p:sp>
    </p:spTree>
    <p:extLst>
      <p:ext uri="{BB962C8B-B14F-4D97-AF65-F5344CB8AC3E}">
        <p14:creationId xmlns:p14="http://schemas.microsoft.com/office/powerpoint/2010/main" val="8409867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6</a:t>
            </a:fld>
            <a:endParaRPr lang="en-US" dirty="0"/>
          </a:p>
        </p:txBody>
      </p:sp>
    </p:spTree>
    <p:extLst>
      <p:ext uri="{BB962C8B-B14F-4D97-AF65-F5344CB8AC3E}">
        <p14:creationId xmlns:p14="http://schemas.microsoft.com/office/powerpoint/2010/main" val="10253268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7</a:t>
            </a:fld>
            <a:endParaRPr lang="en-US" dirty="0"/>
          </a:p>
        </p:txBody>
      </p:sp>
    </p:spTree>
    <p:extLst>
      <p:ext uri="{BB962C8B-B14F-4D97-AF65-F5344CB8AC3E}">
        <p14:creationId xmlns:p14="http://schemas.microsoft.com/office/powerpoint/2010/main" val="20661440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9</a:t>
            </a:fld>
            <a:endParaRPr lang="en-US" dirty="0"/>
          </a:p>
        </p:txBody>
      </p:sp>
    </p:spTree>
    <p:extLst>
      <p:ext uri="{BB962C8B-B14F-4D97-AF65-F5344CB8AC3E}">
        <p14:creationId xmlns:p14="http://schemas.microsoft.com/office/powerpoint/2010/main" val="2366593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11</a:t>
            </a:fld>
            <a:endParaRPr lang="en-US" dirty="0"/>
          </a:p>
        </p:txBody>
      </p:sp>
    </p:spTree>
    <p:extLst>
      <p:ext uri="{BB962C8B-B14F-4D97-AF65-F5344CB8AC3E}">
        <p14:creationId xmlns:p14="http://schemas.microsoft.com/office/powerpoint/2010/main" val="31056832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28341" b="23071"/>
          <a:stretch/>
        </p:blipFill>
        <p:spPr>
          <a:xfrm>
            <a:off x="4229100" y="0"/>
            <a:ext cx="7962901"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hasCustomPrompt="1"/>
          </p:nvPr>
        </p:nvSpPr>
        <p:spPr>
          <a:xfrm>
            <a:off x="1333500" y="2674013"/>
            <a:ext cx="2895600" cy="3269589"/>
          </a:xfrm>
        </p:spPr>
        <p:txBody>
          <a:bodyPr>
            <a:normAutofit/>
          </a:bodyPr>
          <a:lstStyle>
            <a:lvl1pPr marL="0" indent="0">
              <a:lnSpc>
                <a:spcPct val="140000"/>
              </a:lnSpc>
              <a:spcBef>
                <a:spcPts val="1000"/>
              </a:spcBef>
              <a:buNone/>
              <a:defRPr sz="1800">
                <a:solidFill>
                  <a:schemeClr val="bg1"/>
                </a:solidFill>
              </a:defRPr>
            </a:lvl1pPr>
            <a:lvl2pPr marL="457200" indent="0">
              <a:lnSpc>
                <a:spcPct val="140000"/>
              </a:lnSpc>
              <a:spcBef>
                <a:spcPts val="1000"/>
              </a:spcBef>
              <a:buNone/>
              <a:defRPr sz="1800">
                <a:solidFill>
                  <a:schemeClr val="bg1"/>
                </a:solidFill>
              </a:defRPr>
            </a:lvl2pPr>
            <a:lvl3pPr marL="914400" indent="0">
              <a:lnSpc>
                <a:spcPct val="140000"/>
              </a:lnSpc>
              <a:spcBef>
                <a:spcPts val="1000"/>
              </a:spcBef>
              <a:buNone/>
              <a:defRPr sz="1800">
                <a:solidFill>
                  <a:schemeClr val="bg1"/>
                </a:solidFill>
              </a:defRPr>
            </a:lvl3pPr>
            <a:lvl4pPr marL="1371600" indent="0">
              <a:lnSpc>
                <a:spcPct val="140000"/>
              </a:lnSpc>
              <a:spcBef>
                <a:spcPts val="1000"/>
              </a:spcBef>
              <a:buNone/>
              <a:defRPr sz="1800">
                <a:solidFill>
                  <a:schemeClr val="bg1"/>
                </a:solidFill>
              </a:defRPr>
            </a:lvl4pPr>
            <a:lvl5pPr marL="1828800" indent="0">
              <a:lnSpc>
                <a:spcPct val="140000"/>
              </a:lnSpc>
              <a:spcBef>
                <a:spcPts val="1000"/>
              </a:spcBef>
              <a:buNone/>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anchor="b">
            <a:noAutofit/>
          </a:bodyPr>
          <a:lstStyle>
            <a:lvl1pPr algn="l">
              <a:defRPr sz="3600" spc="150" baseline="0">
                <a:solidFill>
                  <a:schemeClr val="tx1"/>
                </a:solidFill>
              </a:defRPr>
            </a:lvl1pPr>
          </a:lstStyle>
          <a:p>
            <a:r>
              <a:rPr lang="en-US" dirty="0"/>
              <a:t>CLICK TO add title</a:t>
            </a:r>
          </a:p>
        </p:txBody>
      </p:sp>
      <p:grpSp>
        <p:nvGrpSpPr>
          <p:cNvPr id="4" name="Group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userDrawn="1"/>
        </p:nvGrpSpPr>
        <p:grpSpPr>
          <a:xfrm>
            <a:off x="0" y="0"/>
            <a:ext cx="6557818" cy="6858000"/>
            <a:chOff x="0" y="0"/>
            <a:chExt cx="4762501" cy="5186363"/>
          </a:xfrm>
        </p:grpSpPr>
        <p:cxnSp>
          <p:nvCxnSpPr>
            <p:cNvPr id="5" name="Straight Connector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250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anchor="b">
            <a:noAutofit/>
          </a:bodyPr>
          <a:lstStyle>
            <a:lvl1pPr algn="l">
              <a:defRPr sz="3600" spc="150" baseline="0">
                <a:solidFill>
                  <a:schemeClr val="bg1"/>
                </a:solidFill>
              </a:defRPr>
            </a:lvl1pPr>
          </a:lstStyle>
          <a:p>
            <a:r>
              <a:rPr lang="en-US" dirty="0"/>
              <a:t>CLICK TO add title</a:t>
            </a:r>
          </a:p>
        </p:txBody>
      </p:sp>
      <p:cxnSp>
        <p:nvCxnSpPr>
          <p:cNvPr id="7" name="Straight Connector 6">
            <a:extLst>
              <a:ext uri="{FF2B5EF4-FFF2-40B4-BE49-F238E27FC236}">
                <a16:creationId xmlns:a16="http://schemas.microsoft.com/office/drawing/2014/main" id="{5D8E94DD-0F7B-3F92-58EA-5F06D557BF40}"/>
              </a:ext>
              <a:ext uri="{C183D7F6-B498-43B3-948B-1728B52AA6E4}">
                <adec:decorative xmlns:adec="http://schemas.microsoft.com/office/drawing/2017/decorative" val="1"/>
              </a:ext>
            </a:extLst>
          </p:cNvPr>
          <p:cNvCxnSpPr>
            <a:cxnSpLocks/>
          </p:cNvCxnSpPr>
          <p:nvPr userDrawn="1"/>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a:normAutofit/>
          </a:bodyPr>
          <a:lstStyle>
            <a:lvl1pPr marL="0" indent="0">
              <a:buNone/>
              <a:defRPr sz="20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754018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a:normAutofit/>
          </a:bodyPr>
          <a:lstStyle>
            <a:lvl1pPr marL="0" indent="0">
              <a:lnSpc>
                <a:spcPct val="100000"/>
              </a:lnSpc>
              <a:buFont typeface="Arial" panose="020B0604020202020204" pitchFamily="34" charset="0"/>
              <a:buNone/>
              <a:defRPr sz="1800" b="1"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Straight Connector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16" name="Slide Number Placeholder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424973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06400"/>
            <a:ext cx="4179570" cy="3457971"/>
          </a:xfrm>
        </p:spPr>
        <p:txBody>
          <a:bodyPr anchor="b">
            <a:noAutofit/>
          </a:bodyPr>
          <a:lstStyle>
            <a:lvl1pPr algn="l">
              <a:defRPr sz="3600" spc="150" baseline="0">
                <a:solidFill>
                  <a:schemeClr val="bg1"/>
                </a:solidFill>
              </a:defRPr>
            </a:lvl1pPr>
          </a:lstStyle>
          <a:p>
            <a:r>
              <a:rPr lang="en-US" dirty="0"/>
              <a:t>CLICK TO add title</a:t>
            </a:r>
          </a:p>
        </p:txBody>
      </p:sp>
      <p:pic>
        <p:nvPicPr>
          <p:cNvPr id="4" name="Graphic 3">
            <a:extLst>
              <a:ext uri="{FF2B5EF4-FFF2-40B4-BE49-F238E27FC236}">
                <a16:creationId xmlns:a16="http://schemas.microsoft.com/office/drawing/2014/main" id="{5E045004-3604-59DC-13E0-7A0B2DF78C4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44032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accent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25785" y="0"/>
            <a:ext cx="4093633"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9" name="Content Placeholder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a:lstStyle>
            <a:lvl1pPr algn="l">
              <a:defRPr sz="900"/>
            </a:lvl1pPr>
          </a:lstStyle>
          <a:p>
            <a:r>
              <a:rPr lang="en-US" dirty="0"/>
              <a:t>PRESENTATION TITLE</a:t>
            </a:r>
          </a:p>
        </p:txBody>
      </p:sp>
      <p:sp>
        <p:nvSpPr>
          <p:cNvPr id="14" name="Slide Number Placeholder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401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grpSp>
        <p:nvGrpSpPr>
          <p:cNvPr id="10" name="Group 9">
            <a:extLst>
              <a:ext uri="{FF2B5EF4-FFF2-40B4-BE49-F238E27FC236}">
                <a16:creationId xmlns:a16="http://schemas.microsoft.com/office/drawing/2014/main" id="{6A217F83-0BDB-C70B-29FE-2651DE191533}"/>
              </a:ext>
              <a:ext uri="{C183D7F6-B498-43B3-948B-1728B52AA6E4}">
                <adec:decorative xmlns:adec="http://schemas.microsoft.com/office/drawing/2017/decorative" val="1"/>
              </a:ext>
            </a:extLst>
          </p:cNvPr>
          <p:cNvGrpSpPr/>
          <p:nvPr userDrawn="1"/>
        </p:nvGrpSpPr>
        <p:grpSpPr>
          <a:xfrm>
            <a:off x="4429817" y="0"/>
            <a:ext cx="7762183" cy="2754814"/>
            <a:chOff x="7334250" y="0"/>
            <a:chExt cx="4857750" cy="1724025"/>
          </a:xfrm>
        </p:grpSpPr>
        <p:cxnSp>
          <p:nvCxnSpPr>
            <p:cNvPr id="11" name="Straight Connector 10">
              <a:extLst>
                <a:ext uri="{FF2B5EF4-FFF2-40B4-BE49-F238E27FC236}">
                  <a16:creationId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 Placeholder 2">
            <a:extLst>
              <a:ext uri="{FF2B5EF4-FFF2-40B4-BE49-F238E27FC236}">
                <a16:creationId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 name="Content Placeholder 3">
            <a:extLst>
              <a:ext uri="{FF2B5EF4-FFF2-40B4-BE49-F238E27FC236}">
                <a16:creationId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a:normAutofit/>
          </a:bodyPr>
          <a:lstStyle>
            <a:lvl1pPr marL="283464" indent="-283464">
              <a:lnSpc>
                <a:spcPct val="100000"/>
              </a:lnSpc>
              <a:buFont typeface="+mj-lt"/>
              <a:buAutoNum type="arabicPeriod"/>
              <a:defRPr sz="1800" b="0" spc="50" baseline="0"/>
            </a:lvl1pPr>
            <a:lvl2pPr marL="566928" indent="-342900">
              <a:lnSpc>
                <a:spcPct val="100000"/>
              </a:lnSpc>
              <a:spcBef>
                <a:spcPts val="1000"/>
              </a:spcBef>
              <a:buFont typeface="+mj-lt"/>
              <a:buAutoNum type="alphaLcPeriod"/>
              <a:defRPr sz="1800" spc="50" baseline="0"/>
            </a:lvl2pPr>
            <a:lvl3pPr marL="850392" indent="-342900">
              <a:lnSpc>
                <a:spcPct val="100000"/>
              </a:lnSpc>
              <a:spcBef>
                <a:spcPts val="1000"/>
              </a:spcBef>
              <a:buFont typeface="+mj-lt"/>
              <a:buAutoNum type="arabicParenR"/>
              <a:defRPr sz="1800" spc="50" baseline="0"/>
            </a:lvl3pPr>
            <a:lvl4pPr marL="1042416" indent="-342900">
              <a:lnSpc>
                <a:spcPct val="100000"/>
              </a:lnSpc>
              <a:spcBef>
                <a:spcPts val="1000"/>
              </a:spcBef>
              <a:buFont typeface="+mj-lt"/>
              <a:buAutoNum type="alphaLcParenR"/>
              <a:defRPr sz="1800" spc="50" baseline="0"/>
            </a:lvl4pPr>
            <a:lvl5pPr marL="1074420" indent="-400050">
              <a:lnSpc>
                <a:spcPct val="100000"/>
              </a:lnSpc>
              <a:spcBef>
                <a:spcPts val="1000"/>
              </a:spcBef>
              <a:buFont typeface="+mj-lt"/>
              <a:buAutoNum type="romanLcPeriod"/>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7" name="Text Placeholder 2">
            <a:extLst>
              <a:ext uri="{FF2B5EF4-FFF2-40B4-BE49-F238E27FC236}">
                <a16:creationId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3" name="Content Placeholder 3">
            <a:extLst>
              <a:ext uri="{FF2B5EF4-FFF2-40B4-BE49-F238E27FC236}">
                <a16:creationId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4">
            <a:extLst>
              <a:ext uri="{FF2B5EF4-FFF2-40B4-BE49-F238E27FC236}">
                <a16:creationId xmlns:a16="http://schemas.microsoft.com/office/drawing/2014/main" id="{63DC63A6-41FE-6C2D-9A53-0AE4A6DBF39B}"/>
              </a:ext>
            </a:extLst>
          </p:cNvPr>
          <p:cNvSpPr>
            <a:spLocks noGrp="1"/>
          </p:cNvSpPr>
          <p:nvPr>
            <p:ph type="ftr" sz="quarter" idx="12"/>
          </p:nvPr>
        </p:nvSpPr>
        <p:spPr>
          <a:xfrm>
            <a:off x="1333500" y="6356349"/>
            <a:ext cx="3819228" cy="365125"/>
          </a:xfrm>
        </p:spPr>
        <p:txBody>
          <a:bodyPr/>
          <a:lstStyle>
            <a:lvl1pPr algn="l">
              <a:defRPr sz="900"/>
            </a:lvl1pPr>
          </a:lstStyle>
          <a:p>
            <a:r>
              <a:rPr lang="en-US" dirty="0"/>
              <a:t>PRESENTATION TITLE</a:t>
            </a:r>
          </a:p>
        </p:txBody>
      </p:sp>
      <p:sp>
        <p:nvSpPr>
          <p:cNvPr id="20" name="Slide Number Placeholder 5">
            <a:extLst>
              <a:ext uri="{FF2B5EF4-FFF2-40B4-BE49-F238E27FC236}">
                <a16:creationId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112085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B2CC92D-F90A-CB67-4860-D6939AC29566}"/>
              </a:ext>
              <a:ext uri="{C183D7F6-B498-43B3-948B-1728B52AA6E4}">
                <adec:decorative xmlns:adec="http://schemas.microsoft.com/office/drawing/2017/decorative" val="1"/>
              </a:ext>
            </a:extLst>
          </p:cNvPr>
          <p:cNvCxnSpPr>
            <a:cxnSpLocks/>
          </p:cNvCxnSpPr>
          <p:nvPr userDrawn="1"/>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13" name="Picture Placeholder 12">
            <a:extLst>
              <a:ext uri="{FF2B5EF4-FFF2-40B4-BE49-F238E27FC236}">
                <a16:creationId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a:normAutofit/>
          </a:bodyPr>
          <a:lstStyle>
            <a:lvl1pPr marL="0" indent="0" algn="l">
              <a:buNone/>
              <a:defRPr sz="2000">
                <a:solidFill>
                  <a:schemeClr val="tx1"/>
                </a:solidFill>
              </a:defRPr>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04569D00-2037-2A8D-943B-22FAC1C0B690}"/>
              </a:ext>
            </a:extLst>
          </p:cNvPr>
          <p:cNvSpPr>
            <a:spLocks noGrp="1"/>
          </p:cNvSpPr>
          <p:nvPr>
            <p:ph type="ftr" sz="quarter" idx="11"/>
          </p:nvPr>
        </p:nvSpPr>
        <p:spPr>
          <a:xfrm>
            <a:off x="825500" y="6356349"/>
            <a:ext cx="3819228" cy="365125"/>
          </a:xfrm>
        </p:spPr>
        <p:txBody>
          <a:bodyPr/>
          <a:lstStyle>
            <a:lvl1pPr algn="l">
              <a:defRPr sz="900"/>
            </a:lvl1pPr>
          </a:lstStyle>
          <a:p>
            <a:r>
              <a:rPr lang="en-US" dirty="0"/>
              <a:t>PRESENTATION TITLE</a:t>
            </a:r>
          </a:p>
        </p:txBody>
      </p:sp>
      <p:sp>
        <p:nvSpPr>
          <p:cNvPr id="5" name="Slide Number Placeholder 5">
            <a:extLst>
              <a:ext uri="{FF2B5EF4-FFF2-40B4-BE49-F238E27FC236}">
                <a16:creationId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
        <p:nvSpPr>
          <p:cNvPr id="8" name="Content Placeholder 3">
            <a:extLst>
              <a:ext uri="{FF2B5EF4-FFF2-40B4-BE49-F238E27FC236}">
                <a16:creationId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a:normAutofit/>
          </a:bodyPr>
          <a:lstStyle>
            <a:lvl1pPr algn="l">
              <a:defRPr lang="en-US" sz="24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4216396" y="895927"/>
            <a:ext cx="7137404" cy="5115889"/>
          </a:xfrm>
        </p:spPr>
        <p:txBody>
          <a:bodyPr>
            <a:normAutofit/>
          </a:bodyPr>
          <a:lstStyle>
            <a:lvl1pPr marL="0" indent="0" algn="ctr">
              <a:buNone/>
              <a:defRPr sz="2000"/>
            </a:lvl1pPr>
          </a:lstStyle>
          <a:p>
            <a:r>
              <a:rPr lang="en-US"/>
              <a:t>Click icon to add table</a:t>
            </a:r>
            <a:endParaRPr lang="en-US" dirty="0"/>
          </a:p>
        </p:txBody>
      </p:sp>
      <p:sp>
        <p:nvSpPr>
          <p:cNvPr id="10" name="Footer Placeholder 4">
            <a:extLst>
              <a:ext uri="{FF2B5EF4-FFF2-40B4-BE49-F238E27FC236}">
                <a16:creationId xmlns:a16="http://schemas.microsoft.com/office/drawing/2014/main" id="{5F91997C-538B-C8B9-14D7-31A1932F69C3}"/>
              </a:ext>
            </a:extLst>
          </p:cNvPr>
          <p:cNvSpPr>
            <a:spLocks noGrp="1"/>
          </p:cNvSpPr>
          <p:nvPr>
            <p:ph type="ftr" sz="quarter" idx="11"/>
          </p:nvPr>
        </p:nvSpPr>
        <p:spPr>
          <a:xfrm>
            <a:off x="731615" y="6356349"/>
            <a:ext cx="3819228" cy="365125"/>
          </a:xfrm>
        </p:spPr>
        <p:txBody>
          <a:bodyPr/>
          <a:lstStyle>
            <a:lvl1pPr algn="l">
              <a:defRPr sz="900"/>
            </a:lvl1pPr>
          </a:lstStyle>
          <a:p>
            <a:r>
              <a:rPr lang="en-US" dirty="0"/>
              <a:t>PRESENTATION TITLE</a:t>
            </a:r>
          </a:p>
        </p:txBody>
      </p:sp>
      <p:sp>
        <p:nvSpPr>
          <p:cNvPr id="11" name="Slide Number Placeholder 5">
            <a:extLst>
              <a:ext uri="{FF2B5EF4-FFF2-40B4-BE49-F238E27FC236}">
                <a16:creationId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grpSp>
        <p:nvGrpSpPr>
          <p:cNvPr id="14" name="Group 13">
            <a:extLst>
              <a:ext uri="{FF2B5EF4-FFF2-40B4-BE49-F238E27FC236}">
                <a16:creationId xmlns:a16="http://schemas.microsoft.com/office/drawing/2014/main" id="{E34303BA-AFB6-0E22-486F-785994E3B7B1}"/>
              </a:ext>
              <a:ext uri="{C183D7F6-B498-43B3-948B-1728B52AA6E4}">
                <adec:decorative xmlns:adec="http://schemas.microsoft.com/office/drawing/2017/decorative" val="1"/>
              </a:ext>
            </a:extLst>
          </p:cNvPr>
          <p:cNvGrpSpPr/>
          <p:nvPr userDrawn="1"/>
        </p:nvGrpSpPr>
        <p:grpSpPr>
          <a:xfrm>
            <a:off x="0" y="0"/>
            <a:ext cx="2327564" cy="1505528"/>
            <a:chOff x="0" y="0"/>
            <a:chExt cx="2238376" cy="3105150"/>
          </a:xfrm>
        </p:grpSpPr>
        <p:cxnSp>
          <p:nvCxnSpPr>
            <p:cNvPr id="15" name="Straight Connector 14">
              <a:extLst>
                <a:ext uri="{FF2B5EF4-FFF2-40B4-BE49-F238E27FC236}">
                  <a16:creationId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80816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1" name="Straight Connector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anchor="b">
            <a:normAutofit/>
          </a:bodyPr>
          <a:lstStyle>
            <a:lvl1pPr algn="ctr">
              <a:defRPr lang="en-US" sz="2800" kern="1200" spc="150" baseline="0" dirty="0">
                <a:solidFill>
                  <a:schemeClr val="tx1"/>
                </a:solidFill>
                <a:latin typeface="+mj-lt"/>
                <a:ea typeface="+mj-ea"/>
                <a:cs typeface="+mj-cs"/>
              </a:defRPr>
            </a:lvl1pPr>
          </a:lstStyle>
          <a:p>
            <a:r>
              <a:rPr lang="en-US" dirty="0"/>
              <a:t>CLICK TO add title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a:normAutofit/>
          </a:bodyPr>
          <a:lstStyle>
            <a:lvl1pPr marL="0" indent="0" algn="ctr">
              <a:buNone/>
              <a:defRPr sz="2000"/>
            </a:lvl1pPr>
          </a:lstStyle>
          <a:p>
            <a:r>
              <a:rPr lang="en-US"/>
              <a:t>Click icon to add table</a:t>
            </a:r>
            <a:endParaRPr lang="en-US" dirty="0"/>
          </a:p>
        </p:txBody>
      </p:sp>
      <p:sp>
        <p:nvSpPr>
          <p:cNvPr id="6" name="Footer Placeholder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a:lstStyle>
            <a:lvl1pPr algn="l">
              <a:defRPr sz="900"/>
            </a:lvl1pPr>
          </a:lstStyle>
          <a:p>
            <a:r>
              <a:rPr lang="en-US" dirty="0"/>
              <a:t>PRESENTATION TITLE</a:t>
            </a:r>
          </a:p>
        </p:txBody>
      </p:sp>
      <p:sp>
        <p:nvSpPr>
          <p:cNvPr id="7" name="Slide Number Placeholder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850181"/>
          </a:xfrm>
        </p:spPr>
        <p:txBody>
          <a:bodyPr>
            <a:normAutofit/>
          </a:bodyPr>
          <a:lstStyle>
            <a:lvl1pPr marL="0" indent="0" algn="l">
              <a:lnSpc>
                <a:spcPct val="150000"/>
              </a:lnSpc>
              <a:buNone/>
              <a:defRPr sz="18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pic>
        <p:nvPicPr>
          <p:cNvPr id="6" name="Graphic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3176938" cy="6858000"/>
          </a:xfrm>
          <a:prstGeom prst="rect">
            <a:avLst/>
          </a:prstGeom>
        </p:spPr>
      </p:pic>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4267200" y="6356350"/>
            <a:ext cx="4179570" cy="365125"/>
          </a:xfrm>
        </p:spPr>
        <p:txBody>
          <a:bodyPr/>
          <a:lstStyle>
            <a:lvl1pPr algn="l">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9" r:id="rId3"/>
    <p:sldLayoutId id="2147483670" r:id="rId4"/>
    <p:sldLayoutId id="2147483651" r:id="rId5"/>
    <p:sldLayoutId id="2147483671" r:id="rId6"/>
    <p:sldLayoutId id="2147483672" r:id="rId7"/>
    <p:sldLayoutId id="2147483673" r:id="rId8"/>
    <p:sldLayoutId id="2147483664" r:id="rId9"/>
    <p:sldLayoutId id="2147483674" r:id="rId10"/>
    <p:sldLayoutId id="2147483653" r:id="rId11"/>
    <p:sldLayoutId id="2147483667" r:id="rId12"/>
    <p:sldLayoutId id="2147483665" r:id="rId13"/>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6657109" y="3429000"/>
            <a:ext cx="5287689" cy="3200400"/>
          </a:xfrm>
        </p:spPr>
        <p:txBody>
          <a:bodyPr anchor="t"/>
          <a:lstStyle/>
          <a:p>
            <a:r>
              <a:rPr lang="en-US" dirty="0"/>
              <a:t>StatCast Analytics: Predicting Batted Ball Distance</a:t>
            </a:r>
            <a:br>
              <a:rPr lang="en-US" dirty="0"/>
            </a:br>
            <a:r>
              <a:rPr lang="en-US" sz="1800" dirty="0"/>
              <a:t>Using Multi-Linear Regression to Quantify Hitting Performance</a:t>
            </a:r>
            <a:br>
              <a:rPr lang="en-US" sz="1800" dirty="0"/>
            </a:br>
            <a:br>
              <a:rPr lang="en-US" sz="1800" dirty="0"/>
            </a:br>
            <a:r>
              <a:rPr lang="en-US" sz="1800" dirty="0"/>
              <a:t>Fernando Guzman</a:t>
            </a:r>
            <a:endParaRPr lang="en-US" dirty="0"/>
          </a:p>
        </p:txBody>
      </p:sp>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AFA5E-469B-2BFC-9D4E-BD1EC6E48CA0}"/>
              </a:ext>
            </a:extLst>
          </p:cNvPr>
          <p:cNvSpPr>
            <a:spLocks noGrp="1"/>
          </p:cNvSpPr>
          <p:nvPr>
            <p:ph type="ctrTitle"/>
          </p:nvPr>
        </p:nvSpPr>
        <p:spPr>
          <a:xfrm>
            <a:off x="6576291" y="1389106"/>
            <a:ext cx="5092699" cy="1257993"/>
          </a:xfrm>
        </p:spPr>
        <p:txBody>
          <a:bodyPr anchor="t"/>
          <a:lstStyle/>
          <a:p>
            <a:pPr algn="ctr"/>
            <a:r>
              <a:rPr lang="en-US" sz="2800" dirty="0"/>
              <a:t>Problem: Quantifying the Mechanics of Power</a:t>
            </a:r>
          </a:p>
        </p:txBody>
      </p:sp>
      <p:pic>
        <p:nvPicPr>
          <p:cNvPr id="16" name="Picture Placeholder 15" descr="Batting a baseball">
            <a:extLst>
              <a:ext uri="{FF2B5EF4-FFF2-40B4-BE49-F238E27FC236}">
                <a16:creationId xmlns:a16="http://schemas.microsoft.com/office/drawing/2014/main" id="{448EF356-1822-E2AE-2794-322870D4C222}"/>
              </a:ext>
            </a:extLst>
          </p:cNvPr>
          <p:cNvPicPr>
            <a:picLocks noGrp="1" noChangeAspect="1"/>
          </p:cNvPicPr>
          <p:nvPr>
            <p:ph type="pic" sz="quarter" idx="10"/>
          </p:nvPr>
        </p:nvPicPr>
        <p:blipFill>
          <a:blip r:embed="rId3">
            <a:grayscl/>
          </a:blip>
          <a:srcRect l="18205" r="18205"/>
          <a:stretch/>
        </p:blipFill>
        <p:spPr>
          <a:xfrm>
            <a:off x="0" y="-5080"/>
            <a:ext cx="6576291" cy="6872605"/>
          </a:xfrm>
        </p:spPr>
      </p:pic>
      <p:cxnSp>
        <p:nvCxnSpPr>
          <p:cNvPr id="21" name="Straight Connector 20">
            <a:extLst>
              <a:ext uri="{FF2B5EF4-FFF2-40B4-BE49-F238E27FC236}">
                <a16:creationId xmlns:a16="http://schemas.microsoft.com/office/drawing/2014/main" id="{944268F6-A361-9907-F87F-9C4377ECAE6D}"/>
              </a:ext>
              <a:ext uri="{C183D7F6-B498-43B3-948B-1728B52AA6E4}">
                <adec:decorative xmlns:adec="http://schemas.microsoft.com/office/drawing/2017/decorative" val="1"/>
              </a:ext>
            </a:extLst>
          </p:cNvPr>
          <p:cNvCxnSpPr>
            <a:cxnSpLocks/>
          </p:cNvCxnSpPr>
          <p:nvPr/>
        </p:nvCxnSpPr>
        <p:spPr>
          <a:xfrm flipH="1" flipV="1">
            <a:off x="0" y="254643"/>
            <a:ext cx="6096000" cy="85576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9C0DF0B-EA7A-43FC-6932-75690521F6C5}"/>
              </a:ext>
            </a:extLst>
          </p:cNvPr>
          <p:cNvSpPr txBox="1"/>
          <p:nvPr/>
        </p:nvSpPr>
        <p:spPr>
          <a:xfrm>
            <a:off x="6576291" y="2647099"/>
            <a:ext cx="5092699" cy="2308324"/>
          </a:xfrm>
          <a:prstGeom prst="rect">
            <a:avLst/>
          </a:prstGeom>
          <a:noFill/>
        </p:spPr>
        <p:txBody>
          <a:bodyPr wrap="square" rtlCol="0">
            <a:spAutoFit/>
          </a:bodyPr>
          <a:lstStyle/>
          <a:p>
            <a:pPr algn="ctr"/>
            <a:r>
              <a:rPr lang="en-US" dirty="0">
                <a:solidFill>
                  <a:schemeClr val="bg1"/>
                </a:solidFill>
              </a:rPr>
              <a:t>In modern baseball, teams seek to understand which mechanical inputs, such as swing path, directly correlate with power output. The specific challenge is to quantify the marginal impact of a player’s Exit Velocity (EV) and Launch Angle (LA) on the most fundamental measure of power, distance, or more specifically, batted ball distance.</a:t>
            </a:r>
          </a:p>
        </p:txBody>
      </p:sp>
    </p:spTree>
    <p:extLst>
      <p:ext uri="{BB962C8B-B14F-4D97-AF65-F5344CB8AC3E}">
        <p14:creationId xmlns:p14="http://schemas.microsoft.com/office/powerpoint/2010/main" val="2241459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F5859-10C9-4588-9727-B9362E26C29D}"/>
              </a:ext>
            </a:extLst>
          </p:cNvPr>
          <p:cNvSpPr>
            <a:spLocks noGrp="1"/>
          </p:cNvSpPr>
          <p:nvPr>
            <p:ph type="title"/>
          </p:nvPr>
        </p:nvSpPr>
        <p:spPr>
          <a:xfrm>
            <a:off x="626917" y="914398"/>
            <a:ext cx="3435927" cy="486237"/>
          </a:xfrm>
        </p:spPr>
        <p:txBody>
          <a:bodyPr anchor="t">
            <a:noAutofit/>
          </a:bodyPr>
          <a:lstStyle/>
          <a:p>
            <a:r>
              <a:rPr lang="en-US" sz="3200" dirty="0"/>
              <a:t>Significance</a:t>
            </a:r>
          </a:p>
        </p:txBody>
      </p:sp>
      <p:sp>
        <p:nvSpPr>
          <p:cNvPr id="3" name="Content Placeholder 2">
            <a:extLst>
              <a:ext uri="{FF2B5EF4-FFF2-40B4-BE49-F238E27FC236}">
                <a16:creationId xmlns:a16="http://schemas.microsoft.com/office/drawing/2014/main" id="{5671D7E5-EF66-4BCD-8DAA-E9061157F0BE}"/>
              </a:ext>
            </a:extLst>
          </p:cNvPr>
          <p:cNvSpPr>
            <a:spLocks noGrp="1"/>
          </p:cNvSpPr>
          <p:nvPr>
            <p:ph idx="1"/>
          </p:nvPr>
        </p:nvSpPr>
        <p:spPr>
          <a:xfrm>
            <a:off x="238991" y="1704109"/>
            <a:ext cx="3990109" cy="4239493"/>
          </a:xfrm>
        </p:spPr>
        <p:txBody>
          <a:bodyPr>
            <a:normAutofit lnSpcReduction="10000"/>
          </a:bodyPr>
          <a:lstStyle/>
          <a:p>
            <a:pPr marL="285750" indent="-285750">
              <a:buFont typeface="Arial" panose="020B0604020202020204" pitchFamily="34" charset="0"/>
              <a:buChar char="•"/>
            </a:pPr>
            <a:r>
              <a:rPr lang="en-US" dirty="0"/>
              <a:t>Player Evaluation: Provides objective metrics for evaluating player development and trade value.</a:t>
            </a:r>
          </a:p>
          <a:p>
            <a:pPr marL="285750" indent="-285750">
              <a:buFont typeface="Arial" panose="020B0604020202020204" pitchFamily="34" charset="0"/>
              <a:buChar char="•"/>
            </a:pPr>
            <a:r>
              <a:rPr lang="en-US" dirty="0"/>
              <a:t>Coaching &amp; Training: Pinpoints the precise changes (e.g., higher EV vs. optimal LA) that lead to performance gains.</a:t>
            </a:r>
          </a:p>
          <a:p>
            <a:pPr marL="285750" indent="-285750">
              <a:buFont typeface="Arial" panose="020B0604020202020204" pitchFamily="34" charset="0"/>
              <a:buChar char="•"/>
            </a:pPr>
            <a:r>
              <a:rPr lang="en-US" dirty="0"/>
              <a:t>Scouting: Creates a statistical baseline for future player projection.</a:t>
            </a:r>
          </a:p>
        </p:txBody>
      </p:sp>
      <p:sp>
        <p:nvSpPr>
          <p:cNvPr id="5" name="Slide Number Placeholder 5">
            <a:extLst>
              <a:ext uri="{FF2B5EF4-FFF2-40B4-BE49-F238E27FC236}">
                <a16:creationId xmlns:a16="http://schemas.microsoft.com/office/drawing/2014/main" id="{B02A8827-B1A1-2D2F-D6DD-E886B886C43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3</a:t>
            </a:fld>
            <a:endParaRPr lang="en-US" dirty="0"/>
          </a:p>
        </p:txBody>
      </p:sp>
    </p:spTree>
    <p:extLst>
      <p:ext uri="{BB962C8B-B14F-4D97-AF65-F5344CB8AC3E}">
        <p14:creationId xmlns:p14="http://schemas.microsoft.com/office/powerpoint/2010/main" val="1713219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22318" y="268360"/>
            <a:ext cx="7288282" cy="2121177"/>
          </a:xfrm>
        </p:spPr>
        <p:txBody>
          <a:bodyPr/>
          <a:lstStyle/>
          <a:p>
            <a:r>
              <a:rPr lang="en-US" dirty="0"/>
              <a:t>Solution: Multi-Linear Regression</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sz="half" idx="2"/>
          </p:nvPr>
        </p:nvSpPr>
        <p:spPr>
          <a:xfrm>
            <a:off x="1322388" y="2763078"/>
            <a:ext cx="7288212" cy="3407051"/>
          </a:xfrm>
        </p:spPr>
        <p:txBody>
          <a:bodyPr>
            <a:normAutofit fontScale="92500" lnSpcReduction="10000"/>
          </a:bodyPr>
          <a:lstStyle/>
          <a:p>
            <a:r>
              <a:rPr lang="en-US" b="0" dirty="0"/>
              <a:t>I propose using a Multi-Linear Regression model to quantify the linear relationship between several hitting metrics and the average distance a player hits the ball. </a:t>
            </a:r>
          </a:p>
          <a:p>
            <a:r>
              <a:rPr lang="en-US" dirty="0"/>
              <a:t>ML Technique: Regression</a:t>
            </a:r>
          </a:p>
          <a:p>
            <a:pPr lvl="1"/>
            <a:r>
              <a:rPr lang="en-US" dirty="0"/>
              <a:t>Goal: Predict a continuous numerical value (Average Distance).</a:t>
            </a:r>
          </a:p>
          <a:p>
            <a:pPr lvl="1"/>
            <a:r>
              <a:rPr lang="en-US" dirty="0"/>
              <a:t>Justification: Linear Regression is the most effective tool to show the correlation and marginal contribution of independent variables (EV, LA) to the dependent variable (Distance). The resulting coefficients are highly interpretable, directly supporting the project's goal of quantification.</a:t>
            </a:r>
          </a:p>
          <a:p>
            <a:pPr lvl="1"/>
            <a:r>
              <a:rPr lang="en-US" dirty="0"/>
              <a:t>Model: Scikit-</a:t>
            </a:r>
            <a:r>
              <a:rPr lang="en-US" dirty="0" err="1"/>
              <a:t>learn’s</a:t>
            </a:r>
            <a:r>
              <a:rPr lang="en-US" dirty="0"/>
              <a:t> </a:t>
            </a:r>
            <a:r>
              <a:rPr lang="en-US" dirty="0" err="1"/>
              <a:t>LinearRegression</a:t>
            </a:r>
            <a:r>
              <a:rPr lang="en-US" dirty="0"/>
              <a:t> (implemented in prototype)</a:t>
            </a:r>
          </a:p>
        </p:txBody>
      </p:sp>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4</a:t>
            </a:fld>
            <a:endParaRPr lang="en-US" dirty="0"/>
          </a:p>
        </p:txBody>
      </p:sp>
    </p:spTree>
    <p:extLst>
      <p:ext uri="{BB962C8B-B14F-4D97-AF65-F5344CB8AC3E}">
        <p14:creationId xmlns:p14="http://schemas.microsoft.com/office/powerpoint/2010/main" val="3571516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21055C-5E33-5D21-2A6E-21827FA88ED3}"/>
              </a:ext>
            </a:extLst>
          </p:cNvPr>
          <p:cNvSpPr>
            <a:spLocks noGrp="1"/>
          </p:cNvSpPr>
          <p:nvPr>
            <p:ph type="title"/>
          </p:nvPr>
        </p:nvSpPr>
        <p:spPr>
          <a:xfrm>
            <a:off x="838201" y="895350"/>
            <a:ext cx="3247662" cy="1917700"/>
          </a:xfrm>
        </p:spPr>
        <p:txBody>
          <a:bodyPr>
            <a:normAutofit/>
          </a:bodyPr>
          <a:lstStyle/>
          <a:p>
            <a:r>
              <a:rPr lang="en-US" dirty="0"/>
              <a:t>Data Description: Aggregated StatCast Data</a:t>
            </a:r>
          </a:p>
        </p:txBody>
      </p:sp>
      <p:sp>
        <p:nvSpPr>
          <p:cNvPr id="6" name="Text Placeholder 5">
            <a:extLst>
              <a:ext uri="{FF2B5EF4-FFF2-40B4-BE49-F238E27FC236}">
                <a16:creationId xmlns:a16="http://schemas.microsoft.com/office/drawing/2014/main" id="{B587B122-1579-FDB8-443B-F05E622163C3}"/>
              </a:ext>
            </a:extLst>
          </p:cNvPr>
          <p:cNvSpPr>
            <a:spLocks noGrp="1"/>
          </p:cNvSpPr>
          <p:nvPr>
            <p:ph sz="half" idx="16"/>
          </p:nvPr>
        </p:nvSpPr>
        <p:spPr>
          <a:xfrm>
            <a:off x="838200" y="2813049"/>
            <a:ext cx="3247662" cy="3238499"/>
          </a:xfrm>
        </p:spPr>
        <p:txBody>
          <a:bodyPr>
            <a:normAutofit lnSpcReduction="10000"/>
          </a:bodyPr>
          <a:lstStyle/>
          <a:p>
            <a:r>
              <a:rPr lang="en-US" dirty="0"/>
              <a:t>The prototype uses MLB StatCast data aggregated at the player-season level, filtered to players with sufficient Batted Ball Events (BBE&gt;100).</a:t>
            </a:r>
          </a:p>
          <a:p>
            <a:endParaRPr lang="en-US" dirty="0"/>
          </a:p>
          <a:p>
            <a:r>
              <a:rPr lang="en-US" dirty="0"/>
              <a:t>Target variable: </a:t>
            </a:r>
            <a:r>
              <a:rPr lang="en-US" dirty="0" err="1"/>
              <a:t>dist_avg</a:t>
            </a:r>
            <a:r>
              <a:rPr lang="en-US" dirty="0"/>
              <a:t>, the average distance (in feet) of all batted balls hit by the player in that season.</a:t>
            </a:r>
          </a:p>
        </p:txBody>
      </p:sp>
      <p:graphicFrame>
        <p:nvGraphicFramePr>
          <p:cNvPr id="10" name="Table Placeholder 2">
            <a:extLst>
              <a:ext uri="{FF2B5EF4-FFF2-40B4-BE49-F238E27FC236}">
                <a16:creationId xmlns:a16="http://schemas.microsoft.com/office/drawing/2014/main" id="{98ED67AF-B48B-F5F8-E2FD-1C98C42C4D54}"/>
              </a:ext>
            </a:extLst>
          </p:cNvPr>
          <p:cNvGraphicFramePr>
            <a:graphicFrameLocks noGrp="1"/>
          </p:cNvGraphicFramePr>
          <p:nvPr>
            <p:ph type="tbl" sz="quarter" idx="14"/>
            <p:extLst>
              <p:ext uri="{D42A27DB-BD31-4B8C-83A1-F6EECF244321}">
                <p14:modId xmlns:p14="http://schemas.microsoft.com/office/powerpoint/2010/main" val="2378140639"/>
              </p:ext>
            </p:extLst>
          </p:nvPr>
        </p:nvGraphicFramePr>
        <p:xfrm>
          <a:off x="4216400" y="895350"/>
          <a:ext cx="7144503" cy="4779270"/>
        </p:xfrm>
        <a:graphic>
          <a:graphicData uri="http://schemas.openxmlformats.org/drawingml/2006/table">
            <a:tbl>
              <a:tblPr firstRow="1" bandRow="1">
                <a:tableStyleId>{7E9639D4-E3E2-4D34-9284-5A2195B3D0D7}</a:tableStyleId>
              </a:tblPr>
              <a:tblGrid>
                <a:gridCol w="2288309">
                  <a:extLst>
                    <a:ext uri="{9D8B030D-6E8A-4147-A177-3AD203B41FA5}">
                      <a16:colId xmlns:a16="http://schemas.microsoft.com/office/drawing/2014/main" val="127040821"/>
                    </a:ext>
                  </a:extLst>
                </a:gridCol>
                <a:gridCol w="1465118">
                  <a:extLst>
                    <a:ext uri="{9D8B030D-6E8A-4147-A177-3AD203B41FA5}">
                      <a16:colId xmlns:a16="http://schemas.microsoft.com/office/drawing/2014/main" val="149845700"/>
                    </a:ext>
                  </a:extLst>
                </a:gridCol>
                <a:gridCol w="3391076">
                  <a:extLst>
                    <a:ext uri="{9D8B030D-6E8A-4147-A177-3AD203B41FA5}">
                      <a16:colId xmlns:a16="http://schemas.microsoft.com/office/drawing/2014/main" val="3119692462"/>
                    </a:ext>
                  </a:extLst>
                </a:gridCol>
              </a:tblGrid>
              <a:tr h="810285">
                <a:tc gridSpan="3">
                  <a:txBody>
                    <a:bodyPr/>
                    <a:lstStyle/>
                    <a:p>
                      <a:pPr algn="ctr"/>
                      <a:r>
                        <a:rPr lang="en-US" b="0" dirty="0"/>
                        <a:t>Key Features (Independent Variables – X)</a:t>
                      </a:r>
                    </a:p>
                  </a:txBody>
                  <a:tcPr anchor="ctr">
                    <a:lnB w="12700" cap="flat" cmpd="sng" algn="ctr">
                      <a:solidFill>
                        <a:schemeClr val="bg1"/>
                      </a:solidFill>
                      <a:prstDash val="solid"/>
                      <a:round/>
                      <a:headEnd type="none" w="med" len="med"/>
                      <a:tailEnd type="none" w="med" len="med"/>
                    </a:lnB>
                  </a:tcPr>
                </a:tc>
                <a:tc hMerge="1">
                  <a:txBody>
                    <a:bodyPr/>
                    <a:lstStyle/>
                    <a:p>
                      <a:pPr algn="ctr"/>
                      <a:endParaRPr lang="en-US" b="0" dirty="0"/>
                    </a:p>
                  </a:txBody>
                  <a:tcPr anchor="ctr"/>
                </a:tc>
                <a:tc hMerge="1">
                  <a:txBody>
                    <a:bodyPr/>
                    <a:lstStyle/>
                    <a:p>
                      <a:pPr algn="ctr"/>
                      <a:endParaRPr lang="en-US" b="0" dirty="0"/>
                    </a:p>
                  </a:txBody>
                  <a:tcPr anchor="ctr"/>
                </a:tc>
                <a:extLst>
                  <a:ext uri="{0D108BD9-81ED-4DB2-BD59-A6C34878D82A}">
                    <a16:rowId xmlns:a16="http://schemas.microsoft.com/office/drawing/2014/main" val="2404252950"/>
                  </a:ext>
                </a:extLst>
              </a:tr>
              <a:tr h="810285">
                <a:tc>
                  <a:txBody>
                    <a:bodyPr/>
                    <a:lstStyle/>
                    <a:p>
                      <a:pPr algn="ctr"/>
                      <a:r>
                        <a:rPr lang="en-US" b="0" dirty="0">
                          <a:solidFill>
                            <a:schemeClr val="bg1"/>
                          </a:solidFill>
                        </a:rPr>
                        <a:t>Feature Name</a:t>
                      </a: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tx1"/>
                    </a:solidFill>
                  </a:tcPr>
                </a:tc>
                <a:tc>
                  <a:txBody>
                    <a:bodyPr/>
                    <a:lstStyle/>
                    <a:p>
                      <a:pPr algn="ctr"/>
                      <a:r>
                        <a:rPr lang="en-US" b="0" dirty="0">
                          <a:solidFill>
                            <a:schemeClr val="bg1"/>
                          </a:solidFill>
                        </a:rPr>
                        <a:t>Type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tx1"/>
                    </a:solidFill>
                  </a:tcPr>
                </a:tc>
                <a:tc>
                  <a:txBody>
                    <a:bodyPr/>
                    <a:lstStyle/>
                    <a:p>
                      <a:pPr algn="ctr"/>
                      <a:r>
                        <a:rPr lang="en-US" b="0" dirty="0">
                          <a:solidFill>
                            <a:schemeClr val="bg1"/>
                          </a:solidFill>
                        </a:rPr>
                        <a:t>Role</a:t>
                      </a: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solidFill>
                      <a:schemeClr val="tx1"/>
                    </a:solidFill>
                  </a:tcPr>
                </a:tc>
                <a:extLst>
                  <a:ext uri="{0D108BD9-81ED-4DB2-BD59-A6C34878D82A}">
                    <a16:rowId xmlns:a16="http://schemas.microsoft.com/office/drawing/2014/main" val="3298013591"/>
                  </a:ext>
                </a:extLst>
              </a:tr>
              <a:tr h="839540">
                <a:tc>
                  <a:txBody>
                    <a:bodyPr/>
                    <a:lstStyle/>
                    <a:p>
                      <a:pPr algn="ctr"/>
                      <a:r>
                        <a:rPr lang="en-US" dirty="0" err="1"/>
                        <a:t>ev_avg</a:t>
                      </a:r>
                      <a:endParaRPr lang="en-US" dirty="0"/>
                    </a:p>
                  </a:txBody>
                  <a:tcPr anchor="ctr"/>
                </a:tc>
                <a:tc>
                  <a:txBody>
                    <a:bodyPr/>
                    <a:lstStyle/>
                    <a:p>
                      <a:pPr algn="ctr"/>
                      <a:r>
                        <a:rPr lang="en-US" dirty="0"/>
                        <a:t>Numeric</a:t>
                      </a:r>
                    </a:p>
                  </a:txBody>
                  <a:tcPr anchor="ctr">
                    <a:lnR w="12700" cap="flat" cmpd="sng" algn="ctr">
                      <a:solidFill>
                        <a:schemeClr val="bg1"/>
                      </a:solidFill>
                      <a:prstDash val="solid"/>
                      <a:round/>
                      <a:headEnd type="none" w="med" len="med"/>
                      <a:tailEnd type="none" w="med" len="med"/>
                    </a:lnR>
                  </a:tcPr>
                </a:tc>
                <a:tc>
                  <a:txBody>
                    <a:bodyPr/>
                    <a:lstStyle/>
                    <a:p>
                      <a:pPr algn="ctr"/>
                      <a:r>
                        <a:rPr lang="en-US" dirty="0"/>
                        <a:t>Primary predictor (speed of ball off bat)</a:t>
                      </a:r>
                    </a:p>
                  </a:txBody>
                  <a:tcPr anchor="ctr">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873867931"/>
                  </a:ext>
                </a:extLst>
              </a:tr>
              <a:tr h="839540">
                <a:tc>
                  <a:txBody>
                    <a:bodyPr/>
                    <a:lstStyle/>
                    <a:p>
                      <a:pPr algn="ctr"/>
                      <a:r>
                        <a:rPr lang="en-US" dirty="0" err="1"/>
                        <a:t>la_avg</a:t>
                      </a:r>
                      <a:endParaRPr lang="en-US" dirty="0"/>
                    </a:p>
                  </a:txBody>
                  <a:tcPr anchor="ctr"/>
                </a:tc>
                <a:tc>
                  <a:txBody>
                    <a:bodyPr/>
                    <a:lstStyle/>
                    <a:p>
                      <a:pPr algn="ctr"/>
                      <a:r>
                        <a:rPr lang="en-US" dirty="0"/>
                        <a:t>Numeric</a:t>
                      </a:r>
                    </a:p>
                  </a:txBody>
                  <a:tcPr anchor="ctr"/>
                </a:tc>
                <a:tc>
                  <a:txBody>
                    <a:bodyPr/>
                    <a:lstStyle/>
                    <a:p>
                      <a:pPr algn="ctr"/>
                      <a:r>
                        <a:rPr lang="en-US" dirty="0"/>
                        <a:t>Primary predictor (angle of ball off bat)</a:t>
                      </a:r>
                    </a:p>
                  </a:txBody>
                  <a:tcPr anchor="ctr"/>
                </a:tc>
                <a:extLst>
                  <a:ext uri="{0D108BD9-81ED-4DB2-BD59-A6C34878D82A}">
                    <a16:rowId xmlns:a16="http://schemas.microsoft.com/office/drawing/2014/main" val="85209771"/>
                  </a:ext>
                </a:extLst>
              </a:tr>
              <a:tr h="587640">
                <a:tc>
                  <a:txBody>
                    <a:bodyPr/>
                    <a:lstStyle/>
                    <a:p>
                      <a:pPr algn="ctr"/>
                      <a:r>
                        <a:rPr lang="en-US" dirty="0" err="1"/>
                        <a:t>barrels_batted_balls_percentage</a:t>
                      </a:r>
                      <a:endParaRPr lang="en-US" dirty="0"/>
                    </a:p>
                  </a:txBody>
                  <a:tcPr anchor="ctr"/>
                </a:tc>
                <a:tc>
                  <a:txBody>
                    <a:bodyPr/>
                    <a:lstStyle/>
                    <a:p>
                      <a:pPr algn="ctr"/>
                      <a:r>
                        <a:rPr lang="en-US" dirty="0"/>
                        <a:t>Numeric</a:t>
                      </a:r>
                    </a:p>
                  </a:txBody>
                  <a:tcPr anchor="ctr"/>
                </a:tc>
                <a:tc>
                  <a:txBody>
                    <a:bodyPr/>
                    <a:lstStyle/>
                    <a:p>
                      <a:pPr algn="ctr"/>
                      <a:r>
                        <a:rPr lang="en-US" dirty="0"/>
                        <a:t>Proxy for optimal contact quality</a:t>
                      </a:r>
                    </a:p>
                  </a:txBody>
                  <a:tcPr anchor="ctr"/>
                </a:tc>
                <a:extLst>
                  <a:ext uri="{0D108BD9-81ED-4DB2-BD59-A6C34878D82A}">
                    <a16:rowId xmlns:a16="http://schemas.microsoft.com/office/drawing/2014/main" val="4061031278"/>
                  </a:ext>
                </a:extLst>
              </a:tr>
              <a:tr h="839540">
                <a:tc>
                  <a:txBody>
                    <a:bodyPr/>
                    <a:lstStyle/>
                    <a:p>
                      <a:pPr algn="ctr"/>
                      <a:r>
                        <a:rPr lang="en-US" dirty="0" err="1"/>
                        <a:t>hard_hit_percentage</a:t>
                      </a:r>
                      <a:endParaRPr lang="en-US" dirty="0"/>
                    </a:p>
                  </a:txBody>
                  <a:tcPr anchor="ctr"/>
                </a:tc>
                <a:tc>
                  <a:txBody>
                    <a:bodyPr/>
                    <a:lstStyle/>
                    <a:p>
                      <a:pPr algn="ctr"/>
                      <a:r>
                        <a:rPr lang="en-US" dirty="0"/>
                        <a:t>Numeric</a:t>
                      </a:r>
                    </a:p>
                  </a:txBody>
                  <a:tcPr anchor="ctr"/>
                </a:tc>
                <a:tc>
                  <a:txBody>
                    <a:bodyPr/>
                    <a:lstStyle/>
                    <a:p>
                      <a:pPr algn="ctr"/>
                      <a:r>
                        <a:rPr lang="en-US" dirty="0"/>
                        <a:t>Control for overall high-velocity contact</a:t>
                      </a:r>
                    </a:p>
                  </a:txBody>
                  <a:tcPr anchor="ctr"/>
                </a:tc>
                <a:extLst>
                  <a:ext uri="{0D108BD9-81ED-4DB2-BD59-A6C34878D82A}">
                    <a16:rowId xmlns:a16="http://schemas.microsoft.com/office/drawing/2014/main" val="3591840781"/>
                  </a:ext>
                </a:extLst>
              </a:tr>
            </a:tbl>
          </a:graphicData>
        </a:graphic>
      </p:graphicFrame>
      <p:sp>
        <p:nvSpPr>
          <p:cNvPr id="5" name="Slide Number Placeholder 4">
            <a:extLst>
              <a:ext uri="{FF2B5EF4-FFF2-40B4-BE49-F238E27FC236}">
                <a16:creationId xmlns:a16="http://schemas.microsoft.com/office/drawing/2014/main" id="{E74B0ADB-527F-A58C-9372-D8502ED6F918}"/>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5</a:t>
            </a:fld>
            <a:endParaRPr lang="en-US" dirty="0"/>
          </a:p>
        </p:txBody>
      </p:sp>
    </p:spTree>
    <p:extLst>
      <p:ext uri="{BB962C8B-B14F-4D97-AF65-F5344CB8AC3E}">
        <p14:creationId xmlns:p14="http://schemas.microsoft.com/office/powerpoint/2010/main" val="1658164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E2E6A-35EC-1B8E-0FD7-8C67870ACA64}"/>
              </a:ext>
            </a:extLst>
          </p:cNvPr>
          <p:cNvSpPr>
            <a:spLocks noGrp="1"/>
          </p:cNvSpPr>
          <p:nvPr>
            <p:ph type="title"/>
          </p:nvPr>
        </p:nvSpPr>
        <p:spPr>
          <a:xfrm>
            <a:off x="2933700" y="568961"/>
            <a:ext cx="8420100" cy="1780860"/>
          </a:xfrm>
        </p:spPr>
        <p:txBody>
          <a:bodyPr/>
          <a:lstStyle/>
          <a:p>
            <a:r>
              <a:rPr lang="en-US" dirty="0"/>
              <a:t>Model Workflow</a:t>
            </a:r>
          </a:p>
        </p:txBody>
      </p:sp>
      <p:sp>
        <p:nvSpPr>
          <p:cNvPr id="12" name="Text Placeholder 11">
            <a:extLst>
              <a:ext uri="{FF2B5EF4-FFF2-40B4-BE49-F238E27FC236}">
                <a16:creationId xmlns:a16="http://schemas.microsoft.com/office/drawing/2014/main" id="{554B61B9-26F6-B304-92CD-03053DAAF2A8}"/>
              </a:ext>
            </a:extLst>
          </p:cNvPr>
          <p:cNvSpPr>
            <a:spLocks noGrp="1"/>
          </p:cNvSpPr>
          <p:nvPr>
            <p:ph type="body" idx="1"/>
          </p:nvPr>
        </p:nvSpPr>
        <p:spPr>
          <a:xfrm>
            <a:off x="1994621" y="2797255"/>
            <a:ext cx="3924300" cy="464499"/>
          </a:xfrm>
        </p:spPr>
        <p:txBody>
          <a:bodyPr/>
          <a:lstStyle/>
          <a:p>
            <a:r>
              <a:rPr lang="en-US" dirty="0"/>
              <a:t>Data Preprocessing</a:t>
            </a:r>
          </a:p>
        </p:txBody>
      </p:sp>
      <p:sp>
        <p:nvSpPr>
          <p:cNvPr id="35" name="Content Placeholder 34">
            <a:extLst>
              <a:ext uri="{FF2B5EF4-FFF2-40B4-BE49-F238E27FC236}">
                <a16:creationId xmlns:a16="http://schemas.microsoft.com/office/drawing/2014/main" id="{EDBE6233-75E9-40D1-968F-58CA9AD0FF50}"/>
              </a:ext>
            </a:extLst>
          </p:cNvPr>
          <p:cNvSpPr>
            <a:spLocks noGrp="1"/>
          </p:cNvSpPr>
          <p:nvPr>
            <p:ph sz="half" idx="13"/>
          </p:nvPr>
        </p:nvSpPr>
        <p:spPr>
          <a:xfrm>
            <a:off x="1994621" y="3251596"/>
            <a:ext cx="3943627" cy="3234264"/>
          </a:xfrm>
        </p:spPr>
        <p:txBody>
          <a:bodyPr>
            <a:normAutofit/>
          </a:bodyPr>
          <a:lstStyle/>
          <a:p>
            <a:pPr marL="342900" indent="-342900">
              <a:buFont typeface="+mj-lt"/>
              <a:buAutoNum type="arabicPeriod"/>
            </a:pPr>
            <a:r>
              <a:rPr lang="en-US" sz="1500" dirty="0"/>
              <a:t>Loading: Load mlb-batter-exit-velocity.csv.</a:t>
            </a:r>
          </a:p>
          <a:p>
            <a:pPr marL="342900" indent="-342900">
              <a:buFont typeface="+mj-lt"/>
              <a:buAutoNum type="arabicPeriod"/>
            </a:pPr>
            <a:r>
              <a:rPr lang="en-US" sz="1500" dirty="0"/>
              <a:t>Cleaning: Rename columns to ev_avg, la_avg, </a:t>
            </a:r>
            <a:r>
              <a:rPr lang="en-US" sz="1500" dirty="0" err="1"/>
              <a:t>dist_avg</a:t>
            </a:r>
            <a:r>
              <a:rPr lang="en-US" sz="1500" dirty="0"/>
              <a:t>.</a:t>
            </a:r>
          </a:p>
          <a:p>
            <a:pPr marL="342900" indent="-342900">
              <a:buFont typeface="+mj-lt"/>
              <a:buAutoNum type="arabicPeriod"/>
            </a:pPr>
            <a:r>
              <a:rPr lang="en-US" sz="1500" dirty="0"/>
              <a:t>Missing Data: Impute numerical </a:t>
            </a:r>
            <a:r>
              <a:rPr lang="en-US" sz="1500" dirty="0" err="1"/>
              <a:t>NaNs</a:t>
            </a:r>
            <a:r>
              <a:rPr lang="en-US" sz="1500" dirty="0"/>
              <a:t> using the mean.</a:t>
            </a:r>
          </a:p>
          <a:p>
            <a:pPr marL="342900" indent="-342900">
              <a:buFont typeface="+mj-lt"/>
              <a:buAutoNum type="arabicPeriod"/>
            </a:pPr>
            <a:r>
              <a:rPr lang="en-US" sz="1500" dirty="0"/>
              <a:t>Filtering: Remove players with low Batted Ball Events to ensure statistical validity.</a:t>
            </a:r>
          </a:p>
        </p:txBody>
      </p:sp>
      <p:sp>
        <p:nvSpPr>
          <p:cNvPr id="14" name="Text Placeholder 13">
            <a:extLst>
              <a:ext uri="{FF2B5EF4-FFF2-40B4-BE49-F238E27FC236}">
                <a16:creationId xmlns:a16="http://schemas.microsoft.com/office/drawing/2014/main" id="{CB9F9E8B-42CD-AC26-AFC9-F1F66695693B}"/>
              </a:ext>
            </a:extLst>
          </p:cNvPr>
          <p:cNvSpPr>
            <a:spLocks noGrp="1"/>
          </p:cNvSpPr>
          <p:nvPr>
            <p:ph type="body" sz="quarter" idx="3"/>
          </p:nvPr>
        </p:nvSpPr>
        <p:spPr>
          <a:xfrm>
            <a:off x="6273081" y="2797255"/>
            <a:ext cx="5080719" cy="464499"/>
          </a:xfrm>
        </p:spPr>
        <p:txBody>
          <a:bodyPr/>
          <a:lstStyle/>
          <a:p>
            <a:r>
              <a:rPr lang="en-US" dirty="0"/>
              <a:t>Model Training &amp; Evaluation</a:t>
            </a:r>
          </a:p>
        </p:txBody>
      </p:sp>
      <p:sp>
        <p:nvSpPr>
          <p:cNvPr id="50" name="Content Placeholder 49">
            <a:extLst>
              <a:ext uri="{FF2B5EF4-FFF2-40B4-BE49-F238E27FC236}">
                <a16:creationId xmlns:a16="http://schemas.microsoft.com/office/drawing/2014/main" id="{8F6B2AE9-DDE4-FD99-A235-3B39EEE21481}"/>
              </a:ext>
            </a:extLst>
          </p:cNvPr>
          <p:cNvSpPr>
            <a:spLocks noGrp="1"/>
          </p:cNvSpPr>
          <p:nvPr>
            <p:ph sz="half" idx="14"/>
          </p:nvPr>
        </p:nvSpPr>
        <p:spPr>
          <a:xfrm>
            <a:off x="6273081" y="3251595"/>
            <a:ext cx="5080719" cy="3234264"/>
          </a:xfrm>
        </p:spPr>
        <p:txBody>
          <a:bodyPr>
            <a:normAutofit fontScale="92500" lnSpcReduction="20000"/>
          </a:bodyPr>
          <a:lstStyle/>
          <a:p>
            <a:pPr marL="342900" indent="-342900">
              <a:buFont typeface="+mj-lt"/>
              <a:buAutoNum type="arabicPeriod"/>
            </a:pPr>
            <a:r>
              <a:rPr lang="en-US" dirty="0"/>
              <a:t>Split: 80% Training, 20% Testing (</a:t>
            </a:r>
            <a:r>
              <a:rPr lang="en-US" dirty="0" err="1"/>
              <a:t>random_state</a:t>
            </a:r>
            <a:r>
              <a:rPr lang="en-US" dirty="0"/>
              <a:t>=42).</a:t>
            </a:r>
          </a:p>
          <a:p>
            <a:pPr marL="342900" indent="-342900">
              <a:buFont typeface="+mj-lt"/>
              <a:buAutoNum type="arabicPeriod"/>
            </a:pPr>
            <a:r>
              <a:rPr lang="en-US" dirty="0"/>
              <a:t>Train: Fit the Linear Regression model.</a:t>
            </a:r>
          </a:p>
          <a:p>
            <a:pPr marL="342900" indent="-342900">
              <a:buFont typeface="+mj-lt"/>
              <a:buAutoNum type="arabicPeriod"/>
            </a:pPr>
            <a:r>
              <a:rPr lang="en-US" dirty="0"/>
              <a:t>Metrics:</a:t>
            </a:r>
          </a:p>
          <a:p>
            <a:pPr marL="626364" lvl="1" indent="-342900">
              <a:buFont typeface="+mj-lt"/>
              <a:buAutoNum type="alphaLcParenR"/>
            </a:pPr>
            <a:r>
              <a:rPr lang="en-US" dirty="0"/>
              <a:t>R-squared (R</a:t>
            </a:r>
            <a:r>
              <a:rPr lang="en-US" baseline="30000" dirty="0"/>
              <a:t>2</a:t>
            </a:r>
            <a:r>
              <a:rPr lang="en-US" dirty="0"/>
              <a:t>): Measures the proportion of the variance in Average Distance that is predictable from the input features (Success Metric: &gt; 0.70).</a:t>
            </a:r>
          </a:p>
          <a:p>
            <a:pPr marL="626364" lvl="1" indent="-342900">
              <a:buFont typeface="+mj-lt"/>
              <a:buAutoNum type="alphaLcParenR"/>
            </a:pPr>
            <a:r>
              <a:rPr lang="en-US" dirty="0"/>
              <a:t>Root Mean Squared Error (RMSE): Measures the average magnitude of the prediction error (Success Metric: Keep error under 5 feet).</a:t>
            </a:r>
          </a:p>
        </p:txBody>
      </p:sp>
      <p:sp>
        <p:nvSpPr>
          <p:cNvPr id="8" name="Slide Number Placeholder 7">
            <a:extLst>
              <a:ext uri="{FF2B5EF4-FFF2-40B4-BE49-F238E27FC236}">
                <a16:creationId xmlns:a16="http://schemas.microsoft.com/office/drawing/2014/main" id="{8F44A959-C2BB-9170-C99C-1A2EDB71B994}"/>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6</a:t>
            </a:fld>
            <a:endParaRPr lang="en-US" dirty="0"/>
          </a:p>
        </p:txBody>
      </p:sp>
    </p:spTree>
    <p:extLst>
      <p:ext uri="{BB962C8B-B14F-4D97-AF65-F5344CB8AC3E}">
        <p14:creationId xmlns:p14="http://schemas.microsoft.com/office/powerpoint/2010/main" val="103458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C97BE-403B-122E-90D1-2788978A0B6F}"/>
              </a:ext>
            </a:extLst>
          </p:cNvPr>
          <p:cNvSpPr>
            <a:spLocks noGrp="1"/>
          </p:cNvSpPr>
          <p:nvPr>
            <p:ph type="ctrTitle"/>
          </p:nvPr>
        </p:nvSpPr>
        <p:spPr>
          <a:xfrm>
            <a:off x="6991349" y="406400"/>
            <a:ext cx="4490606" cy="1224973"/>
          </a:xfrm>
        </p:spPr>
        <p:txBody>
          <a:bodyPr anchor="t"/>
          <a:lstStyle/>
          <a:p>
            <a:r>
              <a:rPr lang="en-US" sz="2800" dirty="0"/>
              <a:t>Deployment Scenario: Integrated Scouting Tool</a:t>
            </a:r>
          </a:p>
        </p:txBody>
      </p:sp>
      <p:sp>
        <p:nvSpPr>
          <p:cNvPr id="3" name="TextBox 2">
            <a:extLst>
              <a:ext uri="{FF2B5EF4-FFF2-40B4-BE49-F238E27FC236}">
                <a16:creationId xmlns:a16="http://schemas.microsoft.com/office/drawing/2014/main" id="{C6C8A577-DAC4-AA3C-D2BD-47104E076B3F}"/>
              </a:ext>
            </a:extLst>
          </p:cNvPr>
          <p:cNvSpPr txBox="1"/>
          <p:nvPr/>
        </p:nvSpPr>
        <p:spPr>
          <a:xfrm>
            <a:off x="6991349" y="1953492"/>
            <a:ext cx="4717473" cy="4278094"/>
          </a:xfrm>
          <a:prstGeom prst="rect">
            <a:avLst/>
          </a:prstGeom>
          <a:noFill/>
        </p:spPr>
        <p:txBody>
          <a:bodyPr wrap="square" rtlCol="0">
            <a:spAutoFit/>
          </a:bodyPr>
          <a:lstStyle/>
          <a:p>
            <a:pPr marL="342900" indent="-342900">
              <a:buFont typeface="+mj-lt"/>
              <a:buAutoNum type="arabicPeriod"/>
            </a:pPr>
            <a:r>
              <a:rPr lang="en-US" sz="1600" dirty="0">
                <a:solidFill>
                  <a:schemeClr val="bg1"/>
                </a:solidFill>
              </a:rPr>
              <a:t>Data Pipeline: Integrate model input with real-time StatCast data feeds.</a:t>
            </a:r>
          </a:p>
          <a:p>
            <a:pPr marL="342900" indent="-342900">
              <a:buFont typeface="+mj-lt"/>
              <a:buAutoNum type="arabicPeriod"/>
            </a:pPr>
            <a:r>
              <a:rPr lang="en-US" sz="1600" dirty="0">
                <a:solidFill>
                  <a:schemeClr val="bg1"/>
                </a:solidFill>
              </a:rPr>
              <a:t>Model API: Deploy the trained </a:t>
            </a:r>
            <a:r>
              <a:rPr lang="en-US" sz="1600" dirty="0" err="1">
                <a:solidFill>
                  <a:schemeClr val="bg1"/>
                </a:solidFill>
              </a:rPr>
              <a:t>LinearRegression</a:t>
            </a:r>
            <a:r>
              <a:rPr lang="en-US" sz="1600" dirty="0">
                <a:solidFill>
                  <a:schemeClr val="bg1"/>
                </a:solidFill>
              </a:rPr>
              <a:t> model as a REST API (e.g., using Flask or </a:t>
            </a:r>
            <a:r>
              <a:rPr lang="en-US" sz="1600" dirty="0" err="1">
                <a:solidFill>
                  <a:schemeClr val="bg1"/>
                </a:solidFill>
              </a:rPr>
              <a:t>FastAPI</a:t>
            </a:r>
            <a:r>
              <a:rPr lang="en-US" sz="1600" dirty="0">
                <a:solidFill>
                  <a:schemeClr val="bg1"/>
                </a:solidFill>
              </a:rPr>
              <a:t>).</a:t>
            </a:r>
          </a:p>
          <a:p>
            <a:pPr marL="342900" indent="-342900">
              <a:buFont typeface="+mj-lt"/>
              <a:buAutoNum type="arabicPeriod"/>
            </a:pPr>
            <a:r>
              <a:rPr lang="en-US" sz="1600" dirty="0">
                <a:solidFill>
                  <a:schemeClr val="bg1"/>
                </a:solidFill>
              </a:rPr>
              <a:t>User Interface: A simple web application allowing coaches/analysts to input a player's average EV and LA and receive an immediate prediction of their average batted ball distance.</a:t>
            </a:r>
          </a:p>
          <a:p>
            <a:pPr marL="342900" indent="-342900">
              <a:buFont typeface="+mj-lt"/>
              <a:buAutoNum type="arabicPeriod"/>
            </a:pPr>
            <a:r>
              <a:rPr lang="en-US" sz="1600" dirty="0">
                <a:solidFill>
                  <a:schemeClr val="bg1"/>
                </a:solidFill>
              </a:rPr>
              <a:t>Continuous Monitoring: Retrain the model annually with new season data to ensure performance remains accurate as league-wide hitting trends evolve.</a:t>
            </a:r>
          </a:p>
          <a:p>
            <a:pPr marL="342900" indent="-342900">
              <a:buFont typeface="+mj-lt"/>
              <a:buAutoNum type="arabicPeriod"/>
            </a:pPr>
            <a:r>
              <a:rPr lang="en-US" sz="1600" dirty="0">
                <a:solidFill>
                  <a:schemeClr val="bg1"/>
                </a:solidFill>
              </a:rPr>
              <a:t>XAI Integration: Display the model's coefficients alongside the prediction, so users understand why the prediction was made.</a:t>
            </a:r>
          </a:p>
        </p:txBody>
      </p:sp>
    </p:spTree>
    <p:extLst>
      <p:ext uri="{BB962C8B-B14F-4D97-AF65-F5344CB8AC3E}">
        <p14:creationId xmlns:p14="http://schemas.microsoft.com/office/powerpoint/2010/main" val="334696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A71C1-C5C5-DF1C-E0F2-3BB07D14E043}"/>
              </a:ext>
            </a:extLst>
          </p:cNvPr>
          <p:cNvSpPr>
            <a:spLocks noGrp="1"/>
          </p:cNvSpPr>
          <p:nvPr>
            <p:ph type="title"/>
          </p:nvPr>
        </p:nvSpPr>
        <p:spPr>
          <a:xfrm>
            <a:off x="838200" y="882363"/>
            <a:ext cx="4234870" cy="1917700"/>
          </a:xfrm>
        </p:spPr>
        <p:txBody>
          <a:bodyPr>
            <a:normAutofit/>
          </a:bodyPr>
          <a:lstStyle/>
          <a:p>
            <a:r>
              <a:rPr lang="en-US" sz="2300" dirty="0"/>
              <a:t>Multi-Linear Regression Performance Summary</a:t>
            </a:r>
          </a:p>
        </p:txBody>
      </p:sp>
      <p:sp>
        <p:nvSpPr>
          <p:cNvPr id="3" name="Content Placeholder 2">
            <a:extLst>
              <a:ext uri="{FF2B5EF4-FFF2-40B4-BE49-F238E27FC236}">
                <a16:creationId xmlns:a16="http://schemas.microsoft.com/office/drawing/2014/main" id="{B5C14567-EB07-D972-7DC0-4125EB559208}"/>
              </a:ext>
            </a:extLst>
          </p:cNvPr>
          <p:cNvSpPr>
            <a:spLocks noGrp="1"/>
          </p:cNvSpPr>
          <p:nvPr>
            <p:ph sz="half" idx="16"/>
          </p:nvPr>
        </p:nvSpPr>
        <p:spPr>
          <a:xfrm>
            <a:off x="838199" y="2813049"/>
            <a:ext cx="4234870" cy="3238499"/>
          </a:xfrm>
        </p:spPr>
        <p:txBody>
          <a:bodyPr>
            <a:normAutofit fontScale="92500" lnSpcReduction="20000"/>
          </a:bodyPr>
          <a:lstStyle/>
          <a:p>
            <a:r>
              <a:rPr lang="en-US" sz="1700" i="1" dirty="0"/>
              <a:t>R</a:t>
            </a:r>
            <a:r>
              <a:rPr lang="en-US" sz="1700" i="1" baseline="30000" dirty="0"/>
              <a:t>2</a:t>
            </a:r>
            <a:r>
              <a:rPr lang="en-US" sz="1700" i="1" dirty="0"/>
              <a:t>=0.7892</a:t>
            </a:r>
          </a:p>
          <a:p>
            <a:r>
              <a:rPr lang="en-US" sz="1700" i="1" dirty="0"/>
              <a:t>RMSE= 9.5295 feet</a:t>
            </a:r>
          </a:p>
          <a:p>
            <a:r>
              <a:rPr lang="en-US" sz="1900" b="1" dirty="0"/>
              <a:t>Correlation Heatmap Insight</a:t>
            </a:r>
          </a:p>
          <a:p>
            <a:pPr marL="285750" indent="-285750">
              <a:buFont typeface="Arial" panose="020B0604020202020204" pitchFamily="34" charset="0"/>
              <a:buChar char="•"/>
            </a:pPr>
            <a:r>
              <a:rPr lang="en-US" dirty="0"/>
              <a:t>The heatmap shows a strong positive correlation of 0.83 between la_avg and the target </a:t>
            </a:r>
            <a:r>
              <a:rPr lang="en-US" dirty="0" err="1"/>
              <a:t>dist_avg</a:t>
            </a:r>
            <a:r>
              <a:rPr lang="en-US" dirty="0"/>
              <a:t>.</a:t>
            </a:r>
          </a:p>
          <a:p>
            <a:pPr marL="285750" indent="-285750">
              <a:buFont typeface="Arial" panose="020B0604020202020204" pitchFamily="34" charset="0"/>
              <a:buChar char="•"/>
            </a:pPr>
            <a:r>
              <a:rPr lang="en-US" dirty="0"/>
              <a:t>Exit Velocity (ev_avg) shows a moderate positive correlation of 0.37, indicating that Launch Angle is the dominant factor in simple correlation to average distance within this aggregated dataset.</a:t>
            </a:r>
          </a:p>
        </p:txBody>
      </p:sp>
      <p:sp>
        <p:nvSpPr>
          <p:cNvPr id="5" name="Slide Number Placeholder 4">
            <a:extLst>
              <a:ext uri="{FF2B5EF4-FFF2-40B4-BE49-F238E27FC236}">
                <a16:creationId xmlns:a16="http://schemas.microsoft.com/office/drawing/2014/main" id="{C1EA08A4-950E-3039-14B0-693C8C8861F6}"/>
              </a:ext>
            </a:extLst>
          </p:cNvPr>
          <p:cNvSpPr>
            <a:spLocks noGrp="1"/>
          </p:cNvSpPr>
          <p:nvPr>
            <p:ph type="sldNum" sz="quarter" idx="12"/>
          </p:nvPr>
        </p:nvSpPr>
        <p:spPr/>
        <p:txBody>
          <a:bodyPr/>
          <a:lstStyle/>
          <a:p>
            <a:fld id="{A49DFD55-3C28-40EF-9E31-A92D2E4017FF}" type="slidenum">
              <a:rPr lang="en-US" smtClean="0"/>
              <a:pPr/>
              <a:t>8</a:t>
            </a:fld>
            <a:endParaRPr lang="en-US" dirty="0"/>
          </a:p>
        </p:txBody>
      </p:sp>
      <p:pic>
        <p:nvPicPr>
          <p:cNvPr id="7" name="Picture 6">
            <a:extLst>
              <a:ext uri="{FF2B5EF4-FFF2-40B4-BE49-F238E27FC236}">
                <a16:creationId xmlns:a16="http://schemas.microsoft.com/office/drawing/2014/main" id="{99B21D8D-F668-621D-45AD-0A28420EB7A8}"/>
              </a:ext>
            </a:extLst>
          </p:cNvPr>
          <p:cNvPicPr>
            <a:picLocks noChangeAspect="1"/>
          </p:cNvPicPr>
          <p:nvPr/>
        </p:nvPicPr>
        <p:blipFill>
          <a:blip r:embed="rId2"/>
          <a:stretch>
            <a:fillRect/>
          </a:stretch>
        </p:blipFill>
        <p:spPr>
          <a:xfrm>
            <a:off x="5073070" y="882363"/>
            <a:ext cx="5424055" cy="5143015"/>
          </a:xfrm>
          <a:prstGeom prst="rect">
            <a:avLst/>
          </a:prstGeom>
        </p:spPr>
      </p:pic>
    </p:spTree>
    <p:extLst>
      <p:ext uri="{BB962C8B-B14F-4D97-AF65-F5344CB8AC3E}">
        <p14:creationId xmlns:p14="http://schemas.microsoft.com/office/powerpoint/2010/main" val="4006294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7D9B3-B64F-656A-0D99-161A6C0F518F}"/>
              </a:ext>
            </a:extLst>
          </p:cNvPr>
          <p:cNvSpPr>
            <a:spLocks noGrp="1"/>
          </p:cNvSpPr>
          <p:nvPr>
            <p:ph type="title"/>
          </p:nvPr>
        </p:nvSpPr>
        <p:spPr>
          <a:xfrm>
            <a:off x="1341120" y="558801"/>
            <a:ext cx="9953308" cy="1780860"/>
          </a:xfrm>
        </p:spPr>
        <p:txBody>
          <a:bodyPr>
            <a:normAutofit/>
          </a:bodyPr>
          <a:lstStyle/>
          <a:p>
            <a:r>
              <a:rPr lang="en-US" sz="3200" dirty="0"/>
              <a:t>Ethical Considerations</a:t>
            </a:r>
            <a:br>
              <a:rPr lang="en-US" sz="2400" dirty="0"/>
            </a:br>
            <a:r>
              <a:rPr lang="en-US" sz="2400" dirty="0"/>
              <a:t>Fairness and Bias in Player Evaluation</a:t>
            </a:r>
          </a:p>
        </p:txBody>
      </p:sp>
      <p:sp>
        <p:nvSpPr>
          <p:cNvPr id="13" name="Text Placeholder 12">
            <a:extLst>
              <a:ext uri="{FF2B5EF4-FFF2-40B4-BE49-F238E27FC236}">
                <a16:creationId xmlns:a16="http://schemas.microsoft.com/office/drawing/2014/main" id="{7E5B6E40-3A7D-ACF7-AA38-25977D322D81}"/>
              </a:ext>
            </a:extLst>
          </p:cNvPr>
          <p:cNvSpPr>
            <a:spLocks noGrp="1"/>
          </p:cNvSpPr>
          <p:nvPr>
            <p:ph type="body" idx="1"/>
          </p:nvPr>
        </p:nvSpPr>
        <p:spPr>
          <a:xfrm>
            <a:off x="1341120" y="2960877"/>
            <a:ext cx="2722880" cy="351284"/>
          </a:xfrm>
        </p:spPr>
        <p:txBody>
          <a:bodyPr/>
          <a:lstStyle/>
          <a:p>
            <a:r>
              <a:rPr lang="en-US" dirty="0"/>
              <a:t>Challenge</a:t>
            </a:r>
          </a:p>
        </p:txBody>
      </p:sp>
      <p:sp>
        <p:nvSpPr>
          <p:cNvPr id="36" name="Content Placeholder 35">
            <a:extLst>
              <a:ext uri="{FF2B5EF4-FFF2-40B4-BE49-F238E27FC236}">
                <a16:creationId xmlns:a16="http://schemas.microsoft.com/office/drawing/2014/main" id="{E71298F0-74F1-FECA-0F02-495F9A2EBA7B}"/>
              </a:ext>
            </a:extLst>
          </p:cNvPr>
          <p:cNvSpPr>
            <a:spLocks noGrp="1"/>
          </p:cNvSpPr>
          <p:nvPr>
            <p:ph sz="half" idx="15"/>
          </p:nvPr>
        </p:nvSpPr>
        <p:spPr>
          <a:xfrm>
            <a:off x="1341120" y="3392035"/>
            <a:ext cx="2722880" cy="2907164"/>
          </a:xfrm>
        </p:spPr>
        <p:txBody>
          <a:bodyPr>
            <a:normAutofit lnSpcReduction="10000"/>
          </a:bodyPr>
          <a:lstStyle/>
          <a:p>
            <a:pPr marL="0" indent="0">
              <a:buNone/>
            </a:pPr>
            <a:r>
              <a:rPr lang="en-US" dirty="0"/>
              <a:t>Over-reliance on the model's metrics (EV/LA) can lead to bias against specific hitting styles. For example, contact hitters or players who optimize for line drives may be undervalued if the system solely rewards maximizing distance.</a:t>
            </a:r>
          </a:p>
        </p:txBody>
      </p:sp>
      <p:sp>
        <p:nvSpPr>
          <p:cNvPr id="15" name="Text Placeholder 14">
            <a:extLst>
              <a:ext uri="{FF2B5EF4-FFF2-40B4-BE49-F238E27FC236}">
                <a16:creationId xmlns:a16="http://schemas.microsoft.com/office/drawing/2014/main" id="{A536BD54-EFA1-25A2-9F04-4F22C36E2A5D}"/>
              </a:ext>
            </a:extLst>
          </p:cNvPr>
          <p:cNvSpPr>
            <a:spLocks noGrp="1"/>
          </p:cNvSpPr>
          <p:nvPr>
            <p:ph type="body" idx="10"/>
          </p:nvPr>
        </p:nvSpPr>
        <p:spPr>
          <a:xfrm>
            <a:off x="4754881" y="2960877"/>
            <a:ext cx="5516880" cy="351284"/>
          </a:xfrm>
        </p:spPr>
        <p:txBody>
          <a:bodyPr/>
          <a:lstStyle/>
          <a:p>
            <a:r>
              <a:rPr lang="en-US" dirty="0"/>
              <a:t>Mitigation (XAI)</a:t>
            </a:r>
          </a:p>
        </p:txBody>
      </p:sp>
      <p:sp>
        <p:nvSpPr>
          <p:cNvPr id="14" name="Content Placeholder 13">
            <a:extLst>
              <a:ext uri="{FF2B5EF4-FFF2-40B4-BE49-F238E27FC236}">
                <a16:creationId xmlns:a16="http://schemas.microsoft.com/office/drawing/2014/main" id="{5112969F-EB84-49D5-7100-1FB28870FB30}"/>
              </a:ext>
            </a:extLst>
          </p:cNvPr>
          <p:cNvSpPr>
            <a:spLocks noGrp="1"/>
          </p:cNvSpPr>
          <p:nvPr>
            <p:ph sz="half" idx="14"/>
          </p:nvPr>
        </p:nvSpPr>
        <p:spPr>
          <a:xfrm>
            <a:off x="4754881" y="3324859"/>
            <a:ext cx="5791892" cy="3031489"/>
          </a:xfrm>
        </p:spPr>
        <p:txBody>
          <a:bodyPr>
            <a:normAutofit lnSpcReduction="10000"/>
          </a:bodyPr>
          <a:lstStyle/>
          <a:p>
            <a:pPr marL="285750" indent="-285750">
              <a:buFont typeface="Arial" panose="020B0604020202020204" pitchFamily="34" charset="0"/>
              <a:buChar char="•"/>
            </a:pPr>
            <a:r>
              <a:rPr lang="en-US" dirty="0"/>
              <a:t>Transparency: Use the model's coefficients (Section 9) to transparently show the marginal impact of each variable.</a:t>
            </a:r>
          </a:p>
          <a:p>
            <a:pPr marL="285750" indent="-285750">
              <a:buFont typeface="Arial" panose="020B0604020202020204" pitchFamily="34" charset="0"/>
              <a:buChar char="•"/>
            </a:pPr>
            <a:r>
              <a:rPr lang="en-US" dirty="0"/>
              <a:t>Holistic View: Treat the model as a predictive input, not a final evaluation. Analysts must combine the model's quantified correlation with traditional scouting data.</a:t>
            </a:r>
          </a:p>
          <a:p>
            <a:pPr marL="285750" indent="-285750">
              <a:buFont typeface="Arial" panose="020B0604020202020204" pitchFamily="34" charset="0"/>
              <a:buChar char="•"/>
            </a:pPr>
            <a:r>
              <a:rPr lang="en-US" dirty="0"/>
              <a:t>Monitoring: Regularly test the model for disparate impact across groups (e.g., high-contact vs. high-power hitters) to ensure evaluation is fair.</a:t>
            </a:r>
          </a:p>
        </p:txBody>
      </p:sp>
      <p:sp>
        <p:nvSpPr>
          <p:cNvPr id="68" name="Slide Number Placeholder 67">
            <a:extLst>
              <a:ext uri="{FF2B5EF4-FFF2-40B4-BE49-F238E27FC236}">
                <a16:creationId xmlns:a16="http://schemas.microsoft.com/office/drawing/2014/main" id="{AA0ACADD-CC4E-851C-DA07-C22DB97FA23E}"/>
              </a:ext>
            </a:extLst>
          </p:cNvPr>
          <p:cNvSpPr>
            <a:spLocks noGrp="1"/>
          </p:cNvSpPr>
          <p:nvPr>
            <p:ph type="sldNum" sz="quarter" idx="13"/>
          </p:nvPr>
        </p:nvSpPr>
        <p:spPr>
          <a:xfrm>
            <a:off x="10373350" y="6356349"/>
            <a:ext cx="987552" cy="365125"/>
          </a:xfrm>
        </p:spPr>
        <p:txBody>
          <a:bodyPr/>
          <a:lstStyle/>
          <a:p>
            <a:fld id="{A49DFD55-3C28-40EF-9E31-A92D2E4017FF}" type="slidenum">
              <a:rPr lang="en-US" smtClean="0"/>
              <a:pPr/>
              <a:t>9</a:t>
            </a:fld>
            <a:endParaRPr lang="en-US" dirty="0"/>
          </a:p>
        </p:txBody>
      </p:sp>
    </p:spTree>
    <p:extLst>
      <p:ext uri="{BB962C8B-B14F-4D97-AF65-F5344CB8AC3E}">
        <p14:creationId xmlns:p14="http://schemas.microsoft.com/office/powerpoint/2010/main" val="636929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3719D-AEDF-087A-0523-B6EB25683186}"/>
              </a:ext>
            </a:extLst>
          </p:cNvPr>
          <p:cNvSpPr>
            <a:spLocks noGrp="1"/>
          </p:cNvSpPr>
          <p:nvPr>
            <p:ph type="title"/>
          </p:nvPr>
        </p:nvSpPr>
        <p:spPr/>
        <p:txBody>
          <a:bodyPr>
            <a:normAutofit/>
          </a:bodyPr>
          <a:lstStyle/>
          <a:p>
            <a:r>
              <a:rPr lang="en-US" sz="3600" dirty="0"/>
              <a:t>XAI: Model Interpretation</a:t>
            </a:r>
            <a:br>
              <a:rPr lang="en-US" sz="2400" dirty="0"/>
            </a:br>
            <a:r>
              <a:rPr lang="en-US" sz="2000" dirty="0"/>
              <a:t>Feature Coefficients </a:t>
            </a:r>
            <a:br>
              <a:rPr lang="en-US" sz="2000" dirty="0"/>
            </a:br>
            <a:r>
              <a:rPr lang="en-US" sz="2000" dirty="0"/>
              <a:t>(Marginal Impact)</a:t>
            </a:r>
            <a:endParaRPr lang="en-US" sz="2400" dirty="0"/>
          </a:p>
        </p:txBody>
      </p:sp>
      <p:graphicFrame>
        <p:nvGraphicFramePr>
          <p:cNvPr id="8" name="Content Placeholder 7">
            <a:extLst>
              <a:ext uri="{FF2B5EF4-FFF2-40B4-BE49-F238E27FC236}">
                <a16:creationId xmlns:a16="http://schemas.microsoft.com/office/drawing/2014/main" id="{6858B5F2-63BA-0FB9-6BD2-E8C38A4A97C9}"/>
              </a:ext>
            </a:extLst>
          </p:cNvPr>
          <p:cNvGraphicFramePr>
            <a:graphicFrameLocks noGrp="1"/>
          </p:cNvGraphicFramePr>
          <p:nvPr>
            <p:ph sz="half" idx="2"/>
            <p:extLst>
              <p:ext uri="{D42A27DB-BD31-4B8C-83A1-F6EECF244321}">
                <p14:modId xmlns:p14="http://schemas.microsoft.com/office/powerpoint/2010/main" val="734079719"/>
              </p:ext>
            </p:extLst>
          </p:nvPr>
        </p:nvGraphicFramePr>
        <p:xfrm>
          <a:off x="838200" y="2705177"/>
          <a:ext cx="6466609" cy="3786791"/>
        </p:xfrm>
        <a:graphic>
          <a:graphicData uri="http://schemas.openxmlformats.org/drawingml/2006/table">
            <a:tbl>
              <a:tblPr firstRow="1" bandRow="1">
                <a:tableStyleId>{7E9639D4-E3E2-4D34-9284-5A2195B3D0D7}</a:tableStyleId>
              </a:tblPr>
              <a:tblGrid>
                <a:gridCol w="1717964">
                  <a:extLst>
                    <a:ext uri="{9D8B030D-6E8A-4147-A177-3AD203B41FA5}">
                      <a16:colId xmlns:a16="http://schemas.microsoft.com/office/drawing/2014/main" val="3607003894"/>
                    </a:ext>
                  </a:extLst>
                </a:gridCol>
                <a:gridCol w="1517072">
                  <a:extLst>
                    <a:ext uri="{9D8B030D-6E8A-4147-A177-3AD203B41FA5}">
                      <a16:colId xmlns:a16="http://schemas.microsoft.com/office/drawing/2014/main" val="694065090"/>
                    </a:ext>
                  </a:extLst>
                </a:gridCol>
                <a:gridCol w="3231573">
                  <a:extLst>
                    <a:ext uri="{9D8B030D-6E8A-4147-A177-3AD203B41FA5}">
                      <a16:colId xmlns:a16="http://schemas.microsoft.com/office/drawing/2014/main" val="3618465624"/>
                    </a:ext>
                  </a:extLst>
                </a:gridCol>
              </a:tblGrid>
              <a:tr h="438998">
                <a:tc>
                  <a:txBody>
                    <a:bodyPr/>
                    <a:lstStyle/>
                    <a:p>
                      <a:r>
                        <a:rPr lang="en-US" dirty="0"/>
                        <a:t>Feature</a:t>
                      </a:r>
                    </a:p>
                  </a:txBody>
                  <a:tcPr/>
                </a:tc>
                <a:tc>
                  <a:txBody>
                    <a:bodyPr/>
                    <a:lstStyle/>
                    <a:p>
                      <a:r>
                        <a:rPr lang="en-US" dirty="0"/>
                        <a:t>Coefficient</a:t>
                      </a:r>
                    </a:p>
                  </a:txBody>
                  <a:tcPr/>
                </a:tc>
                <a:tc>
                  <a:txBody>
                    <a:bodyPr/>
                    <a:lstStyle/>
                    <a:p>
                      <a:r>
                        <a:rPr lang="en-US" dirty="0"/>
                        <a:t>Interpretation</a:t>
                      </a:r>
                    </a:p>
                  </a:txBody>
                  <a:tcPr/>
                </a:tc>
                <a:extLst>
                  <a:ext uri="{0D108BD9-81ED-4DB2-BD59-A6C34878D82A}">
                    <a16:rowId xmlns:a16="http://schemas.microsoft.com/office/drawing/2014/main" val="714348184"/>
                  </a:ext>
                </a:extLst>
              </a:tr>
              <a:tr h="710852">
                <a:tc>
                  <a:txBody>
                    <a:bodyPr/>
                    <a:lstStyle/>
                    <a:p>
                      <a:r>
                        <a:rPr lang="en-US" dirty="0"/>
                        <a:t>ev_avg</a:t>
                      </a:r>
                    </a:p>
                  </a:txBody>
                  <a:tcPr/>
                </a:tc>
                <a:tc>
                  <a:txBody>
                    <a:bodyPr/>
                    <a:lstStyle/>
                    <a:p>
                      <a:r>
                        <a:rPr lang="en-US" dirty="0"/>
                        <a:t>3.32</a:t>
                      </a:r>
                    </a:p>
                  </a:txBody>
                  <a:tcPr/>
                </a:tc>
                <a:tc>
                  <a:txBody>
                    <a:bodyPr/>
                    <a:lstStyle/>
                    <a:p>
                      <a:r>
                        <a:rPr lang="en-US" dirty="0"/>
                        <a:t>+3.32 feet in distance for every 1 mph increase in average EV.</a:t>
                      </a:r>
                    </a:p>
                  </a:txBody>
                  <a:tcPr/>
                </a:tc>
                <a:extLst>
                  <a:ext uri="{0D108BD9-81ED-4DB2-BD59-A6C34878D82A}">
                    <a16:rowId xmlns:a16="http://schemas.microsoft.com/office/drawing/2014/main" val="1877403088"/>
                  </a:ext>
                </a:extLst>
              </a:tr>
              <a:tr h="438998">
                <a:tc>
                  <a:txBody>
                    <a:bodyPr/>
                    <a:lstStyle/>
                    <a:p>
                      <a:r>
                        <a:rPr lang="en-US" dirty="0"/>
                        <a:t>la_avg</a:t>
                      </a:r>
                    </a:p>
                  </a:txBody>
                  <a:tcPr/>
                </a:tc>
                <a:tc>
                  <a:txBody>
                    <a:bodyPr/>
                    <a:lstStyle/>
                    <a:p>
                      <a:r>
                        <a:rPr lang="en-US" dirty="0"/>
                        <a:t>3.22</a:t>
                      </a:r>
                    </a:p>
                  </a:txBody>
                  <a:tcPr/>
                </a:tc>
                <a:tc>
                  <a:txBody>
                    <a:bodyPr/>
                    <a:lstStyle/>
                    <a:p>
                      <a:r>
                        <a:rPr lang="en-US" dirty="0"/>
                        <a:t>+3.22 feet in distance for every one-degree increase in average LA. </a:t>
                      </a:r>
                    </a:p>
                  </a:txBody>
                  <a:tcPr/>
                </a:tc>
                <a:extLst>
                  <a:ext uri="{0D108BD9-81ED-4DB2-BD59-A6C34878D82A}">
                    <a16:rowId xmlns:a16="http://schemas.microsoft.com/office/drawing/2014/main" val="2653774409"/>
                  </a:ext>
                </a:extLst>
              </a:tr>
              <a:tr h="1082461">
                <a:tc>
                  <a:txBody>
                    <a:bodyPr/>
                    <a:lstStyle/>
                    <a:p>
                      <a:r>
                        <a:rPr lang="en-US" dirty="0" err="1"/>
                        <a:t>barrels_batted_balls_percentage</a:t>
                      </a:r>
                      <a:endParaRPr lang="en-US" dirty="0"/>
                    </a:p>
                  </a:txBody>
                  <a:tcPr/>
                </a:tc>
                <a:tc>
                  <a:txBody>
                    <a:bodyPr/>
                    <a:lstStyle/>
                    <a:p>
                      <a:r>
                        <a:rPr lang="en-US" dirty="0"/>
                        <a:t>1.12</a:t>
                      </a:r>
                    </a:p>
                  </a:txBody>
                  <a:tcPr/>
                </a:tc>
                <a:tc>
                  <a:txBody>
                    <a:bodyPr/>
                    <a:lstStyle/>
                    <a:p>
                      <a:r>
                        <a:rPr lang="en-US" dirty="0"/>
                        <a:t>+1.12 feet in distance for every 1% increase in Barrel rate.</a:t>
                      </a:r>
                    </a:p>
                  </a:txBody>
                  <a:tcPr/>
                </a:tc>
                <a:extLst>
                  <a:ext uri="{0D108BD9-81ED-4DB2-BD59-A6C34878D82A}">
                    <a16:rowId xmlns:a16="http://schemas.microsoft.com/office/drawing/2014/main" val="1189221373"/>
                  </a:ext>
                </a:extLst>
              </a:tr>
              <a:tr h="438998">
                <a:tc>
                  <a:txBody>
                    <a:bodyPr/>
                    <a:lstStyle/>
                    <a:p>
                      <a:r>
                        <a:rPr lang="en-US" dirty="0" err="1"/>
                        <a:t>hard_hit_percentage</a:t>
                      </a:r>
                      <a:endParaRPr lang="en-US" dirty="0"/>
                    </a:p>
                  </a:txBody>
                  <a:tcPr/>
                </a:tc>
                <a:tc>
                  <a:txBody>
                    <a:bodyPr/>
                    <a:lstStyle/>
                    <a:p>
                      <a:r>
                        <a:rPr lang="en-US"/>
                        <a:t>-0.66</a:t>
                      </a:r>
                    </a:p>
                  </a:txBody>
                  <a:tcPr/>
                </a:tc>
                <a:tc>
                  <a:txBody>
                    <a:bodyPr/>
                    <a:lstStyle/>
                    <a:p>
                      <a:r>
                        <a:rPr lang="en-US" dirty="0"/>
                        <a:t>-0.66 feet in distance for every 1% increase in Hard-Hit rate. </a:t>
                      </a:r>
                    </a:p>
                  </a:txBody>
                  <a:tcPr/>
                </a:tc>
                <a:extLst>
                  <a:ext uri="{0D108BD9-81ED-4DB2-BD59-A6C34878D82A}">
                    <a16:rowId xmlns:a16="http://schemas.microsoft.com/office/drawing/2014/main" val="832159436"/>
                  </a:ext>
                </a:extLst>
              </a:tr>
            </a:tbl>
          </a:graphicData>
        </a:graphic>
      </p:graphicFrame>
      <p:sp>
        <p:nvSpPr>
          <p:cNvPr id="6" name="Content Placeholder 5">
            <a:extLst>
              <a:ext uri="{FF2B5EF4-FFF2-40B4-BE49-F238E27FC236}">
                <a16:creationId xmlns:a16="http://schemas.microsoft.com/office/drawing/2014/main" id="{F05C2A52-0C4F-9E6E-9A3C-90AF8DDD12E0}"/>
              </a:ext>
            </a:extLst>
          </p:cNvPr>
          <p:cNvSpPr>
            <a:spLocks noGrp="1"/>
          </p:cNvSpPr>
          <p:nvPr>
            <p:ph sz="half" idx="14"/>
          </p:nvPr>
        </p:nvSpPr>
        <p:spPr>
          <a:xfrm>
            <a:off x="7887107" y="2705177"/>
            <a:ext cx="3943627" cy="3786791"/>
          </a:xfrm>
        </p:spPr>
        <p:txBody>
          <a:bodyPr>
            <a:normAutofit fontScale="92500" lnSpcReduction="10000"/>
          </a:bodyPr>
          <a:lstStyle/>
          <a:p>
            <a:r>
              <a:rPr lang="en-US" dirty="0"/>
              <a:t>The regression coefficients quantify the “correlation” by showing the marginal change in average distance (in feet) associated with a one-unit increase in the feature, holding all other features constant. From the la_avg and ev_avg, we can infer that launch angle has a nearly equal marginal impact as exit velocity. The hard-hit percentage suggests that, when accounting for the optimal Barrel rate, simply increasing the overall hard-hit rate without quality contact is slightly detrimental to average distance.</a:t>
            </a:r>
          </a:p>
        </p:txBody>
      </p:sp>
      <p:sp>
        <p:nvSpPr>
          <p:cNvPr id="7" name="Slide Number Placeholder 6">
            <a:extLst>
              <a:ext uri="{FF2B5EF4-FFF2-40B4-BE49-F238E27FC236}">
                <a16:creationId xmlns:a16="http://schemas.microsoft.com/office/drawing/2014/main" id="{0E37DFD7-C558-2ADB-3EB7-5E4D76895DD6}"/>
              </a:ext>
            </a:extLst>
          </p:cNvPr>
          <p:cNvSpPr>
            <a:spLocks noGrp="1"/>
          </p:cNvSpPr>
          <p:nvPr>
            <p:ph type="sldNum" sz="quarter" idx="12"/>
          </p:nvPr>
        </p:nvSpPr>
        <p:spPr/>
        <p:txBody>
          <a:bodyPr/>
          <a:lstStyle/>
          <a:p>
            <a:fld id="{A49DFD55-3C28-40EF-9E31-A92D2E4017FF}" type="slidenum">
              <a:rPr lang="en-US" smtClean="0"/>
              <a:pPr/>
              <a:t>10</a:t>
            </a:fld>
            <a:endParaRPr lang="en-US" dirty="0"/>
          </a:p>
        </p:txBody>
      </p:sp>
    </p:spTree>
    <p:extLst>
      <p:ext uri="{BB962C8B-B14F-4D97-AF65-F5344CB8AC3E}">
        <p14:creationId xmlns:p14="http://schemas.microsoft.com/office/powerpoint/2010/main" val="3746221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8FC28-E0BD-4387-B8BE-9965D1A57FF1}"/>
              </a:ext>
            </a:extLst>
          </p:cNvPr>
          <p:cNvSpPr>
            <a:spLocks noGrp="1"/>
          </p:cNvSpPr>
          <p:nvPr>
            <p:ph type="title"/>
          </p:nvPr>
        </p:nvSpPr>
        <p:spPr>
          <a:xfrm>
            <a:off x="5465299" y="876300"/>
            <a:ext cx="5884027" cy="535368"/>
          </a:xfrm>
        </p:spPr>
        <p:txBody>
          <a:bodyPr anchor="t"/>
          <a:lstStyle/>
          <a:p>
            <a:r>
              <a:rPr lang="en-US" dirty="0"/>
              <a:t>Reflection &amp; Next Steps</a:t>
            </a:r>
          </a:p>
        </p:txBody>
      </p:sp>
      <p:pic>
        <p:nvPicPr>
          <p:cNvPr id="47" name="Picture Placeholder 46" descr="Baseball game">
            <a:extLst>
              <a:ext uri="{FF2B5EF4-FFF2-40B4-BE49-F238E27FC236}">
                <a16:creationId xmlns:a16="http://schemas.microsoft.com/office/drawing/2014/main" id="{F55BC7A4-EE4B-7EFC-C325-408D66C3CBA7}"/>
              </a:ext>
            </a:extLst>
          </p:cNvPr>
          <p:cNvPicPr>
            <a:picLocks noGrp="1" noChangeAspect="1"/>
          </p:cNvPicPr>
          <p:nvPr>
            <p:ph type="pic" sz="quarter" idx="13"/>
          </p:nvPr>
        </p:nvPicPr>
        <p:blipFill>
          <a:blip r:embed="rId3">
            <a:grayscl/>
          </a:blip>
          <a:srcRect l="23674" r="23674"/>
          <a:stretch/>
        </p:blipFill>
        <p:spPr>
          <a:xfrm>
            <a:off x="-28230" y="-9144"/>
            <a:ext cx="5481955" cy="6876288"/>
          </a:xfrm>
        </p:spPr>
      </p:pic>
      <p:sp>
        <p:nvSpPr>
          <p:cNvPr id="6" name="Slide Number Placeholder 5">
            <a:extLst>
              <a:ext uri="{FF2B5EF4-FFF2-40B4-BE49-F238E27FC236}">
                <a16:creationId xmlns:a16="http://schemas.microsoft.com/office/drawing/2014/main" id="{7C4B8313-9270-4128-8674-3A3E42B806BC}"/>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11</a:t>
            </a:fld>
            <a:endParaRPr lang="en-US" dirty="0"/>
          </a:p>
        </p:txBody>
      </p:sp>
      <p:sp>
        <p:nvSpPr>
          <p:cNvPr id="3" name="Text Placeholder 2">
            <a:extLst>
              <a:ext uri="{FF2B5EF4-FFF2-40B4-BE49-F238E27FC236}">
                <a16:creationId xmlns:a16="http://schemas.microsoft.com/office/drawing/2014/main" id="{FED19BCA-B61F-4EA6-A1FB-CCA3BD8506FB}"/>
              </a:ext>
            </a:extLst>
          </p:cNvPr>
          <p:cNvSpPr>
            <a:spLocks noGrp="1"/>
          </p:cNvSpPr>
          <p:nvPr>
            <p:ph sz="half" idx="14"/>
          </p:nvPr>
        </p:nvSpPr>
        <p:spPr>
          <a:xfrm>
            <a:off x="5453725" y="1411668"/>
            <a:ext cx="5907176" cy="4785932"/>
          </a:xfrm>
        </p:spPr>
        <p:txBody>
          <a:bodyPr>
            <a:noAutofit/>
          </a:bodyPr>
          <a:lstStyle/>
          <a:p>
            <a:r>
              <a:rPr lang="en-US" dirty="0"/>
              <a:t>In my initial plan that I spoke about in my discussion post, I wanted to predict home run count using a complex gradient boosting regressor (</a:t>
            </a:r>
            <a:r>
              <a:rPr lang="en-US" dirty="0" err="1"/>
              <a:t>XGBoost</a:t>
            </a:r>
            <a:r>
              <a:rPr lang="en-US" dirty="0"/>
              <a:t>). It wasn’t until after reviewing my data, that I realized the aggregated data was not suitable for complex classification or count prediction. This pivot highlighted a key ML lesson: data constraints dictate the appropriate model. From this, I was able to pivot to a multi-linear regression model to predict a continuous distanced-based metric.</a:t>
            </a:r>
          </a:p>
          <a:p>
            <a:r>
              <a:rPr lang="en-US" dirty="0"/>
              <a:t>In my next steps to making the machine learning model I want, I need to source pitch-by-pitch data to build my </a:t>
            </a:r>
            <a:r>
              <a:rPr lang="en-US" dirty="0" err="1"/>
              <a:t>XGBoost</a:t>
            </a:r>
            <a:r>
              <a:rPr lang="en-US" dirty="0"/>
              <a:t> classification model to predict the likelihood of a single ball being a home run. </a:t>
            </a:r>
          </a:p>
        </p:txBody>
      </p:sp>
      <p:cxnSp>
        <p:nvCxnSpPr>
          <p:cNvPr id="23" name="Straight Connector 22">
            <a:extLst>
              <a:ext uri="{FF2B5EF4-FFF2-40B4-BE49-F238E27FC236}">
                <a16:creationId xmlns:a16="http://schemas.microsoft.com/office/drawing/2014/main" id="{D87F08D6-2CA7-4A5A-BE34-07113DCA535D}"/>
              </a:ext>
              <a:ext uri="{C183D7F6-B498-43B3-948B-1728B52AA6E4}">
                <adec:decorative xmlns:adec="http://schemas.microsoft.com/office/drawing/2017/decorative" val="1"/>
              </a:ext>
            </a:extLst>
          </p:cNvPr>
          <p:cNvCxnSpPr>
            <a:cxnSpLocks/>
          </p:cNvCxnSpPr>
          <p:nvPr userDrawn="1"/>
        </p:nvCxnSpPr>
        <p:spPr>
          <a:xfrm flipH="1" flipV="1">
            <a:off x="0" y="876300"/>
            <a:ext cx="5246255" cy="17098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2861620"/>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 id="{F85C13B5-8B75-4CB8-BA5E-9CAC0747196D}" vid="{617487EE-AB70-4C55-8A81-E6744CC4A2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BF691C-888B-4061-8A6F-D5CE84A0254B}">
  <ds:schemaRefs>
    <ds:schemaRef ds:uri="http://schemas.microsoft.com/sharepoint/v3/contenttype/forms"/>
  </ds:schemaRefs>
</ds:datastoreItem>
</file>

<file path=customXml/itemProps2.xml><?xml version="1.0" encoding="utf-8"?>
<ds:datastoreItem xmlns:ds="http://schemas.openxmlformats.org/officeDocument/2006/customXml" ds:itemID="{49168DCE-134F-4610-A6AA-88CEBE8D71D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EDE3176-A15D-46A3-BDDB-64A0D7363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{A48EC7E6-E47C-415A-BFEA-5A5B8DA29520}TF7521aafa-c748-4c40-a498-ba511be234dc5b1b6097_win32-5039330bb2f3</Template>
  <TotalTime>111</TotalTime>
  <Words>1137</Words>
  <Application>Microsoft Office PowerPoint</Application>
  <PresentationFormat>Widescreen</PresentationFormat>
  <Paragraphs>101</Paragraphs>
  <Slides>11</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Tenorite</vt:lpstr>
      <vt:lpstr>Custom</vt:lpstr>
      <vt:lpstr>StatCast Analytics: Predicting Batted Ball Distance Using Multi-Linear Regression to Quantify Hitting Performance  Fernando Guzman</vt:lpstr>
      <vt:lpstr>Problem: Quantifying the Mechanics of Power</vt:lpstr>
      <vt:lpstr>Significance</vt:lpstr>
      <vt:lpstr>Solution: Multi-Linear Regression</vt:lpstr>
      <vt:lpstr>Data Description: Aggregated StatCast Data</vt:lpstr>
      <vt:lpstr>Model Workflow</vt:lpstr>
      <vt:lpstr>Deployment Scenario: Integrated Scouting Tool</vt:lpstr>
      <vt:lpstr>Multi-Linear Regression Performance Summary</vt:lpstr>
      <vt:lpstr>Ethical Considerations Fairness and Bias in Player Evaluation</vt:lpstr>
      <vt:lpstr>XAI: Model Interpretation Feature Coefficients  (Marginal Impact)</vt:lpstr>
      <vt:lpstr>Reflection &amp;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Fernando Guzman</dc:creator>
  <cp:lastModifiedBy>Fernando Guzman</cp:lastModifiedBy>
  <cp:revision>1</cp:revision>
  <dcterms:created xsi:type="dcterms:W3CDTF">2025-12-02T02:22:26Z</dcterms:created>
  <dcterms:modified xsi:type="dcterms:W3CDTF">2026-09-18T18:06:09Z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